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3" d="100"/>
          <a:sy n="93" d="100"/>
        </p:scale>
        <p:origin x="84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FORMeGO je Chrome a Edge rozšírenie na rýchle vypĺňanie formulárov. Slide predstavuje identitu produktu, autora, predmet a vizuálny jazyk.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 tomto slide vysvetlím problém, cieľového používateľa a riešenie. Pointa: FORMeGO šetrí čas a znižuje frustráciu z opakovaného vypĺňania formulárov.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Výsledky dotazníka: 100 % respondentov označilo nápad za dobrý a 100 % by chcelo takúto extension. Zároveň 57,1 % doteraz nemalo podobnú alternatívu, čo potvrdzuje priestor na jednoduché riešenie.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MVP je postavené na tom, aby používateľ vedel vytvoriť profil, vybrať ho pri formulári a jedným klikom doplniť údaje. Väčšina user stories je hotová, zvyšok sú skôr UX rozšírenia.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Tunel ukazuje cestu používateľa: od prezentačnej stránky cez stiahnutie ZIP balíka až po reálne spustenie rozšírenia cez Load unpacked.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Tu ukážem samotnú aplikáciu: options page, odomykanie šifrovaného vaultu, editor profilov a výber konkrétneho konta pri formulári.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BA3A-7729-5A1E-B61D-3182557F5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736C9F-369E-8353-D5D3-1317ED5A4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F8E12-AA08-0BB6-E175-4186C28E8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Tu ukážem samotnú aplikáciu: options page, odomykanie šifrovaného vaultu, editor profilov a výber konkrétneho konta pri formulári.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468D0-0EC8-6917-E3F3-CF8BA6A982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2095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Technická vrstva stojí na Manifest V3, content scripte, options page a background workeri. Dôležitá časť je heuristické mapovanie polí a bezpečnosť cez šifrovaný vault.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 tomto slide uzatváram validáciu. Feedback ukázal, že správna priorita nie je komplikované UI, ale rýchly one-click flow a dôvera pri práci s údajmi.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Záver prezentácie: publikum môže hneď otvoriť GitHub Pages stránku, pozrieť si produkt a stiahnuť si projekt.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ECB1746-0729-45C7-B526-11E6D4C55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1AD0E36-0E4A-4047-8A98-2DF5B9B43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7CA616C-19FC-48E7-8DC0-F3A4A6B6D4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9A3F130-3373-4CC0-A9DB-59EC14668A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486188-E9E8-4BA6-9893-629DE016A54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ál 1">
            <a:extLst>
              <a:ext uri="{FF2B5EF4-FFF2-40B4-BE49-F238E27FC236}">
                <a16:creationId xmlns:a16="http://schemas.microsoft.com/office/drawing/2014/main" id="{0B494C8B-883D-4A05-856D-FC0DE36170BE}"/>
              </a:ext>
            </a:extLst>
          </p:cNvPr>
          <p:cNvSpPr>
            <a:spLocks noGrp="1"/>
          </p:cNvSpPr>
          <p:nvPr/>
        </p:nvSpPr>
        <p:spPr>
          <a:xfrm>
            <a:off x="-762000" y="-1143000"/>
            <a:ext cx="4000500" cy="4000500"/>
          </a:xfrm>
          <a:prstGeom prst="ellipse">
            <a:avLst/>
          </a:prstGeom>
          <a:solidFill>
            <a:srgbClr val="57A8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33DDC023-C7C4-4B9B-8484-DE197C5E8DE7}"/>
              </a:ext>
            </a:extLst>
          </p:cNvPr>
          <p:cNvSpPr>
            <a:spLocks noGrp="1"/>
          </p:cNvSpPr>
          <p:nvPr/>
        </p:nvSpPr>
        <p:spPr>
          <a:xfrm>
            <a:off x="9144000" y="-1047750"/>
            <a:ext cx="3429000" cy="3429000"/>
          </a:xfrm>
          <a:prstGeom prst="ellipse">
            <a:avLst/>
          </a:prstGeom>
          <a:solidFill>
            <a:srgbClr val="7FE0BE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CDFB6178-9F50-4790-9D41-DA10A67F8E97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3238500" cy="2095500"/>
          </a:xfrm>
          <a:prstGeom prst="ellipse">
            <a:avLst/>
          </a:prstGeom>
          <a:solidFill>
            <a:srgbClr val="57A8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156736CC-D5F3-4A4B-9EDF-18A0021DAF6E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1163300" cy="5943600"/>
          </a:xfrm>
          <a:prstGeom prst="roundRect">
            <a:avLst>
              <a:gd name="adj" fmla="val 1282"/>
            </a:avLst>
          </a:prstGeom>
          <a:solidFill>
            <a:srgbClr val="0F1B2D">
              <a:alpha val="92941"/>
            </a:srgbClr>
          </a:solidFill>
          <a:ln w="13335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2191088F-1195-4E56-8042-FFE98C625D42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33350" cy="59436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pic>
        <p:nvPicPr>
          <p:cNvPr id="7" name="Obrázok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75171" y="1151021"/>
            <a:ext cx="6041658" cy="1654056"/>
          </a:xfrm>
          <a:prstGeom prst="rect">
            <a:avLst/>
          </a:prstGeom>
        </p:spPr>
      </p:pic>
      <p:sp>
        <p:nvSpPr>
          <p:cNvPr id="9" name="Obdĺžnik 8">
            <a:extLst>
              <a:ext uri="{FF2B5EF4-FFF2-40B4-BE49-F238E27FC236}">
                <a16:creationId xmlns:a16="http://schemas.microsoft.com/office/drawing/2014/main" id="{E446AB99-5400-4FC9-AAAE-86B20B42B8E3}"/>
              </a:ext>
            </a:extLst>
          </p:cNvPr>
          <p:cNvSpPr>
            <a:spLocks noGrp="1"/>
          </p:cNvSpPr>
          <p:nvPr/>
        </p:nvSpPr>
        <p:spPr>
          <a:xfrm>
            <a:off x="7192822" y="3442607"/>
            <a:ext cx="4286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ABC0DE"/>
                </a:solidFill>
              </a:defRPr>
            </a:pPr>
            <a:r>
              <a:rPr lang="sk-SK" sz="1650" b="0" noProof="0" dirty="0">
                <a:solidFill>
                  <a:srgbClr val="ABC0DE"/>
                </a:solidFill>
              </a:rPr>
              <a:t>Rozšírenie pre rýchle vypĺňanie formulárov cez uložené profily.</a:t>
            </a:r>
          </a:p>
        </p:txBody>
      </p:sp>
      <p:sp>
        <p:nvSpPr>
          <p:cNvPr id="13" name="Obdĺžnik: zaoblené rohy 12">
            <a:extLst>
              <a:ext uri="{FF2B5EF4-FFF2-40B4-BE49-F238E27FC236}">
                <a16:creationId xmlns:a16="http://schemas.microsoft.com/office/drawing/2014/main" id="{15F01642-EB50-46D9-A938-8DF6B9AE6AF4}"/>
              </a:ext>
            </a:extLst>
          </p:cNvPr>
          <p:cNvSpPr>
            <a:spLocks noGrp="1"/>
          </p:cNvSpPr>
          <p:nvPr/>
        </p:nvSpPr>
        <p:spPr>
          <a:xfrm>
            <a:off x="1025978" y="4285676"/>
            <a:ext cx="4591050" cy="1757613"/>
          </a:xfrm>
          <a:prstGeom prst="roundRect">
            <a:avLst>
              <a:gd name="adj" fmla="val 5556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F441908A-DB8B-4FBE-9FC6-7BA2B03D3930}"/>
              </a:ext>
            </a:extLst>
          </p:cNvPr>
          <p:cNvSpPr>
            <a:spLocks noGrp="1"/>
          </p:cNvSpPr>
          <p:nvPr/>
        </p:nvSpPr>
        <p:spPr>
          <a:xfrm>
            <a:off x="991603" y="4285676"/>
            <a:ext cx="133350" cy="1757613"/>
          </a:xfrm>
          <a:prstGeom prst="rect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4AF06F55-8C11-4398-B727-76F0F624D37A}"/>
              </a:ext>
            </a:extLst>
          </p:cNvPr>
          <p:cNvSpPr>
            <a:spLocks noGrp="1"/>
          </p:cNvSpPr>
          <p:nvPr/>
        </p:nvSpPr>
        <p:spPr>
          <a:xfrm>
            <a:off x="1239253" y="4552377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7FE0BE"/>
                </a:solidFill>
              </a:defRPr>
            </a:pPr>
            <a:r>
              <a:rPr lang="sk-SK" sz="1200" b="1" noProof="0" dirty="0">
                <a:solidFill>
                  <a:srgbClr val="7FE0BE"/>
                </a:solidFill>
              </a:rPr>
              <a:t>Autor</a:t>
            </a:r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D03541A1-B347-44CC-B9B4-988C137ACCAA}"/>
              </a:ext>
            </a:extLst>
          </p:cNvPr>
          <p:cNvSpPr>
            <a:spLocks noGrp="1"/>
          </p:cNvSpPr>
          <p:nvPr/>
        </p:nvSpPr>
        <p:spPr>
          <a:xfrm>
            <a:off x="1239253" y="4819077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EDF5FF"/>
                </a:solidFill>
              </a:defRPr>
            </a:pPr>
            <a:r>
              <a:rPr lang="sk-SK" sz="2000" b="1" noProof="0" dirty="0">
                <a:solidFill>
                  <a:srgbClr val="EDF5FF"/>
                </a:solidFill>
              </a:rPr>
              <a:t>Šimon Čálik</a:t>
            </a:r>
          </a:p>
        </p:txBody>
      </p:sp>
      <p:sp>
        <p:nvSpPr>
          <p:cNvPr id="17" name="Obdĺžnik 16">
            <a:extLst>
              <a:ext uri="{FF2B5EF4-FFF2-40B4-BE49-F238E27FC236}">
                <a16:creationId xmlns:a16="http://schemas.microsoft.com/office/drawing/2014/main" id="{CE40308C-E40F-4DF5-916B-79D1724E3678}"/>
              </a:ext>
            </a:extLst>
          </p:cNvPr>
          <p:cNvSpPr>
            <a:spLocks noGrp="1"/>
          </p:cNvSpPr>
          <p:nvPr/>
        </p:nvSpPr>
        <p:spPr>
          <a:xfrm>
            <a:off x="3144253" y="4552377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7FE0BE"/>
                </a:solidFill>
              </a:defRPr>
            </a:pPr>
            <a:r>
              <a:rPr lang="sk-SK" sz="1200" b="1" noProof="0" dirty="0">
                <a:solidFill>
                  <a:srgbClr val="7FE0BE"/>
                </a:solidFill>
              </a:rPr>
              <a:t>Predmet</a:t>
            </a:r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7E1D3317-DA1B-4CB9-B78E-E787AD0618EB}"/>
              </a:ext>
            </a:extLst>
          </p:cNvPr>
          <p:cNvSpPr>
            <a:spLocks noGrp="1"/>
          </p:cNvSpPr>
          <p:nvPr/>
        </p:nvSpPr>
        <p:spPr>
          <a:xfrm>
            <a:off x="3144253" y="4819077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EDF5FF"/>
                </a:solidFill>
              </a:defRPr>
            </a:pPr>
            <a:r>
              <a:rPr lang="sk-SK" b="1" noProof="0" dirty="0">
                <a:solidFill>
                  <a:srgbClr val="EDF5FF"/>
                </a:solidFill>
              </a:rPr>
              <a:t>Projektový manažment</a:t>
            </a:r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529ED210-1EF9-4163-9920-26B2EF6DDC07}"/>
              </a:ext>
            </a:extLst>
          </p:cNvPr>
          <p:cNvSpPr>
            <a:spLocks noGrp="1"/>
          </p:cNvSpPr>
          <p:nvPr/>
        </p:nvSpPr>
        <p:spPr>
          <a:xfrm>
            <a:off x="1239253" y="5219127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BC0DE"/>
                </a:solidFill>
              </a:defRPr>
            </a:pPr>
            <a:r>
              <a:rPr lang="sk-SK" sz="1400" b="0" noProof="0" dirty="0">
                <a:solidFill>
                  <a:srgbClr val="ABC0DE"/>
                </a:solidFill>
              </a:rPr>
              <a:t>Rok 2026</a:t>
            </a:r>
          </a:p>
        </p:txBody>
      </p:sp>
    </p:spTree>
    <p:extLst>
      <p:ext uri="{BB962C8B-B14F-4D97-AF65-F5344CB8AC3E}">
        <p14:creationId xmlns:p14="http://schemas.microsoft.com/office/powerpoint/2010/main" val="896670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ál 1">
            <a:extLst>
              <a:ext uri="{FF2B5EF4-FFF2-40B4-BE49-F238E27FC236}">
                <a16:creationId xmlns:a16="http://schemas.microsoft.com/office/drawing/2014/main" id="{4D2119AE-369A-4A9A-935F-65CC9FB472A7}"/>
              </a:ext>
            </a:extLst>
          </p:cNvPr>
          <p:cNvSpPr>
            <a:spLocks noGrp="1"/>
          </p:cNvSpPr>
          <p:nvPr/>
        </p:nvSpPr>
        <p:spPr>
          <a:xfrm>
            <a:off x="-762000" y="-1143000"/>
            <a:ext cx="4000500" cy="4000500"/>
          </a:xfrm>
          <a:prstGeom prst="ellipse">
            <a:avLst/>
          </a:prstGeom>
          <a:solidFill>
            <a:srgbClr val="57A8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50321B96-1E5A-4527-B38A-2B27986DADA2}"/>
              </a:ext>
            </a:extLst>
          </p:cNvPr>
          <p:cNvSpPr>
            <a:spLocks noGrp="1"/>
          </p:cNvSpPr>
          <p:nvPr/>
        </p:nvSpPr>
        <p:spPr>
          <a:xfrm>
            <a:off x="9144000" y="-1047750"/>
            <a:ext cx="3429000" cy="3429000"/>
          </a:xfrm>
          <a:prstGeom prst="ellipse">
            <a:avLst/>
          </a:prstGeom>
          <a:solidFill>
            <a:srgbClr val="7FE0BE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F7EED27C-7C5F-4205-BD88-0D7B095D9F26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3238500" cy="2095500"/>
          </a:xfrm>
          <a:prstGeom prst="ellipse">
            <a:avLst/>
          </a:prstGeom>
          <a:solidFill>
            <a:srgbClr val="57A8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5" name="Obdĺžnik 4">
            <a:extLst>
              <a:ext uri="{FF2B5EF4-FFF2-40B4-BE49-F238E27FC236}">
                <a16:creationId xmlns:a16="http://schemas.microsoft.com/office/drawing/2014/main" id="{3A72BB1E-4EA0-472C-A745-54A6FB7A09A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FE0BE"/>
                </a:solidFill>
              </a:defRPr>
            </a:pPr>
            <a:r>
              <a:rPr lang="sk-SK" sz="975" b="1" noProof="0" dirty="0">
                <a:solidFill>
                  <a:srgbClr val="7FE0BE"/>
                </a:solidFill>
              </a:rPr>
              <a:t>PREČO? KTO? ČO?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DC5DA8AF-2C52-4B3D-9FFA-F110A3BD0FF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2550" b="1" noProof="0" dirty="0">
                <a:solidFill>
                  <a:srgbClr val="EDF5FF"/>
                </a:solidFill>
              </a:rPr>
              <a:t>Problém, cieľový používateľ a riešenie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CA51E948-3BC2-4E79-A5D8-504203D99891}"/>
              </a:ext>
            </a:extLst>
          </p:cNvPr>
          <p:cNvSpPr>
            <a:spLocks noGrp="1"/>
          </p:cNvSpPr>
          <p:nvPr/>
        </p:nvSpPr>
        <p:spPr>
          <a:xfrm>
            <a:off x="973668" y="1782233"/>
            <a:ext cx="3105150" cy="3162300"/>
          </a:xfrm>
          <a:prstGeom prst="roundRect">
            <a:avLst>
              <a:gd name="adj" fmla="val 2454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6E764210-993F-4CDC-99A2-FFB2D0FA088B}"/>
              </a:ext>
            </a:extLst>
          </p:cNvPr>
          <p:cNvSpPr>
            <a:spLocks noGrp="1"/>
          </p:cNvSpPr>
          <p:nvPr/>
        </p:nvSpPr>
        <p:spPr>
          <a:xfrm>
            <a:off x="973668" y="1782233"/>
            <a:ext cx="76200" cy="31623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6FF182B7-E344-43AB-BC6F-7AA310B6EB18}"/>
              </a:ext>
            </a:extLst>
          </p:cNvPr>
          <p:cNvSpPr>
            <a:spLocks noGrp="1"/>
          </p:cNvSpPr>
          <p:nvPr/>
        </p:nvSpPr>
        <p:spPr>
          <a:xfrm>
            <a:off x="1240368" y="2048933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7A8FF"/>
                </a:solidFill>
              </a:defRPr>
            </a:pPr>
            <a:r>
              <a:rPr lang="sk-SK" sz="1200" b="1" noProof="0" dirty="0">
                <a:solidFill>
                  <a:srgbClr val="57A8FF"/>
                </a:solidFill>
              </a:rPr>
              <a:t>Prečo?</a:t>
            </a:r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9AADEB40-E54C-47FD-82CF-841718ED7034}"/>
              </a:ext>
            </a:extLst>
          </p:cNvPr>
          <p:cNvSpPr>
            <a:spLocks noGrp="1"/>
          </p:cNvSpPr>
          <p:nvPr/>
        </p:nvSpPr>
        <p:spPr>
          <a:xfrm>
            <a:off x="1240368" y="2429933"/>
            <a:ext cx="25527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EDF5FF"/>
                </a:solidFill>
              </a:defRPr>
            </a:pPr>
            <a:r>
              <a:rPr lang="sk-SK" sz="2100" b="1" noProof="0" dirty="0">
                <a:solidFill>
                  <a:srgbClr val="EDF5FF"/>
                </a:solidFill>
              </a:rPr>
              <a:t>Formuláre sú otravne opakované</a:t>
            </a:r>
          </a:p>
        </p:txBody>
      </p:sp>
      <p:sp>
        <p:nvSpPr>
          <p:cNvPr id="12" name="Obdĺžnik 11">
            <a:extLst>
              <a:ext uri="{FF2B5EF4-FFF2-40B4-BE49-F238E27FC236}">
                <a16:creationId xmlns:a16="http://schemas.microsoft.com/office/drawing/2014/main" id="{1B1D49CE-6A5B-4C20-BE2B-4AAD78A89E1E}"/>
              </a:ext>
            </a:extLst>
          </p:cNvPr>
          <p:cNvSpPr>
            <a:spLocks noGrp="1"/>
          </p:cNvSpPr>
          <p:nvPr/>
        </p:nvSpPr>
        <p:spPr>
          <a:xfrm>
            <a:off x="1240368" y="3363383"/>
            <a:ext cx="25527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BC0DE"/>
                </a:solidFill>
              </a:defRPr>
            </a:pPr>
            <a:r>
              <a:rPr lang="sk-SK" sz="1350" b="0" noProof="0" dirty="0">
                <a:solidFill>
                  <a:srgbClr val="ABC0DE"/>
                </a:solidFill>
              </a:rPr>
              <a:t>Meno, kontakt, adresa či firemné údaje sa vypisujú stále dokola. </a:t>
            </a:r>
            <a:r>
              <a:rPr lang="sk-SK" sz="1350" b="0" noProof="0" dirty="0" err="1">
                <a:solidFill>
                  <a:srgbClr val="ABC0DE"/>
                </a:solidFill>
              </a:rPr>
              <a:t>FORMeGO</a:t>
            </a:r>
            <a:r>
              <a:rPr lang="sk-SK" sz="1350" b="0" noProof="0" dirty="0">
                <a:solidFill>
                  <a:srgbClr val="ABC0DE"/>
                </a:solidFill>
              </a:rPr>
              <a:t> skracuje tento opakovaný krok na jeden výber profilu.</a:t>
            </a:r>
          </a:p>
        </p:txBody>
      </p:sp>
      <p:sp>
        <p:nvSpPr>
          <p:cNvPr id="13" name="Obdĺžnik: zaoblené rohy 12">
            <a:extLst>
              <a:ext uri="{FF2B5EF4-FFF2-40B4-BE49-F238E27FC236}">
                <a16:creationId xmlns:a16="http://schemas.microsoft.com/office/drawing/2014/main" id="{CAF7E086-09B9-4AE0-A7C7-766834B7AC95}"/>
              </a:ext>
            </a:extLst>
          </p:cNvPr>
          <p:cNvSpPr>
            <a:spLocks noGrp="1"/>
          </p:cNvSpPr>
          <p:nvPr/>
        </p:nvSpPr>
        <p:spPr>
          <a:xfrm>
            <a:off x="4459818" y="1782233"/>
            <a:ext cx="3105150" cy="3162300"/>
          </a:xfrm>
          <a:prstGeom prst="roundRect">
            <a:avLst>
              <a:gd name="adj" fmla="val 2454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AF7A200E-C5E2-48D7-B612-B6C70E9D344B}"/>
              </a:ext>
            </a:extLst>
          </p:cNvPr>
          <p:cNvSpPr>
            <a:spLocks noGrp="1"/>
          </p:cNvSpPr>
          <p:nvPr/>
        </p:nvSpPr>
        <p:spPr>
          <a:xfrm>
            <a:off x="4459818" y="1782233"/>
            <a:ext cx="76200" cy="3162300"/>
          </a:xfrm>
          <a:prstGeom prst="rect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9BC47DFE-9C19-49C4-9AB0-4DE366CDD408}"/>
              </a:ext>
            </a:extLst>
          </p:cNvPr>
          <p:cNvSpPr>
            <a:spLocks noGrp="1"/>
          </p:cNvSpPr>
          <p:nvPr/>
        </p:nvSpPr>
        <p:spPr>
          <a:xfrm>
            <a:off x="4726518" y="2048933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7FE0BE"/>
                </a:solidFill>
              </a:defRPr>
            </a:pPr>
            <a:r>
              <a:rPr lang="sk-SK" sz="1200" b="1" noProof="0" dirty="0">
                <a:solidFill>
                  <a:srgbClr val="7FE0BE"/>
                </a:solidFill>
              </a:rPr>
              <a:t>Kto?</a:t>
            </a:r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890C22EE-EC21-4501-AB3F-C50632C3E8CF}"/>
              </a:ext>
            </a:extLst>
          </p:cNvPr>
          <p:cNvSpPr>
            <a:spLocks noGrp="1"/>
          </p:cNvSpPr>
          <p:nvPr/>
        </p:nvSpPr>
        <p:spPr>
          <a:xfrm>
            <a:off x="4726518" y="2429933"/>
            <a:ext cx="25527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EDF5FF"/>
                </a:solidFill>
              </a:defRPr>
            </a:pPr>
            <a:r>
              <a:rPr lang="sk-SK" sz="2100" b="1" noProof="0" dirty="0">
                <a:solidFill>
                  <a:srgbClr val="EDF5FF"/>
                </a:solidFill>
              </a:rPr>
              <a:t>Všetci</a:t>
            </a:r>
          </a:p>
        </p:txBody>
      </p:sp>
      <p:sp>
        <p:nvSpPr>
          <p:cNvPr id="17" name="Obdĺžnik 16">
            <a:extLst>
              <a:ext uri="{FF2B5EF4-FFF2-40B4-BE49-F238E27FC236}">
                <a16:creationId xmlns:a16="http://schemas.microsoft.com/office/drawing/2014/main" id="{F0216D7A-F8AB-44A0-A847-50A8394F00C5}"/>
              </a:ext>
            </a:extLst>
          </p:cNvPr>
          <p:cNvSpPr>
            <a:spLocks noGrp="1"/>
          </p:cNvSpPr>
          <p:nvPr/>
        </p:nvSpPr>
        <p:spPr>
          <a:xfrm>
            <a:off x="4726518" y="3363383"/>
            <a:ext cx="25527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BC0DE"/>
                </a:solidFill>
              </a:defRPr>
            </a:pPr>
            <a:r>
              <a:rPr lang="sk-SK" sz="1350" b="0" noProof="0" dirty="0">
                <a:solidFill>
                  <a:srgbClr val="ABC0DE"/>
                </a:solidFill>
              </a:rPr>
              <a:t>Každý, kto pracuje s viacerými identitami alebo kontaktmi. Typické profily: ja, rodina, pracovný kontakt, firma.</a:t>
            </a:r>
          </a:p>
        </p:txBody>
      </p:sp>
      <p:sp>
        <p:nvSpPr>
          <p:cNvPr id="18" name="Obdĺžnik: zaoblené rohy 17">
            <a:extLst>
              <a:ext uri="{FF2B5EF4-FFF2-40B4-BE49-F238E27FC236}">
                <a16:creationId xmlns:a16="http://schemas.microsoft.com/office/drawing/2014/main" id="{DADD858A-BD40-4AD4-9C35-5E58F2B1C474}"/>
              </a:ext>
            </a:extLst>
          </p:cNvPr>
          <p:cNvSpPr>
            <a:spLocks noGrp="1"/>
          </p:cNvSpPr>
          <p:nvPr/>
        </p:nvSpPr>
        <p:spPr>
          <a:xfrm>
            <a:off x="7945968" y="1782233"/>
            <a:ext cx="3105150" cy="3162300"/>
          </a:xfrm>
          <a:prstGeom prst="roundRect">
            <a:avLst>
              <a:gd name="adj" fmla="val 2454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B968C932-4702-407E-BEB3-1C82C0A1C263}"/>
              </a:ext>
            </a:extLst>
          </p:cNvPr>
          <p:cNvSpPr>
            <a:spLocks noGrp="1"/>
          </p:cNvSpPr>
          <p:nvPr/>
        </p:nvSpPr>
        <p:spPr>
          <a:xfrm>
            <a:off x="7945968" y="1782233"/>
            <a:ext cx="76200" cy="3162300"/>
          </a:xfrm>
          <a:prstGeom prst="rect">
            <a:avLst/>
          </a:prstGeom>
          <a:solidFill>
            <a:srgbClr val="F6C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367BF8A9-E027-46F5-9328-D1B74F9F3D77}"/>
              </a:ext>
            </a:extLst>
          </p:cNvPr>
          <p:cNvSpPr>
            <a:spLocks noGrp="1"/>
          </p:cNvSpPr>
          <p:nvPr/>
        </p:nvSpPr>
        <p:spPr>
          <a:xfrm>
            <a:off x="8212668" y="2048933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6C768"/>
                </a:solidFill>
              </a:defRPr>
            </a:pPr>
            <a:r>
              <a:rPr lang="sk-SK" sz="1200" b="1" noProof="0" dirty="0">
                <a:solidFill>
                  <a:srgbClr val="F6C768"/>
                </a:solidFill>
              </a:rPr>
              <a:t>Čo?</a:t>
            </a:r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F7117DB9-FDC6-483A-B577-F65538E572E0}"/>
              </a:ext>
            </a:extLst>
          </p:cNvPr>
          <p:cNvSpPr>
            <a:spLocks noGrp="1"/>
          </p:cNvSpPr>
          <p:nvPr/>
        </p:nvSpPr>
        <p:spPr>
          <a:xfrm>
            <a:off x="8212668" y="2429933"/>
            <a:ext cx="25527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EDF5FF"/>
                </a:solidFill>
              </a:defRPr>
            </a:pPr>
            <a:r>
              <a:rPr lang="sk-SK" sz="2100" b="1" noProof="0" dirty="0">
                <a:solidFill>
                  <a:srgbClr val="EDF5FF"/>
                </a:solidFill>
              </a:rPr>
              <a:t>Chrome/</a:t>
            </a:r>
            <a:r>
              <a:rPr lang="sk-SK" sz="2100" b="1" noProof="0" dirty="0" err="1">
                <a:solidFill>
                  <a:srgbClr val="EDF5FF"/>
                </a:solidFill>
              </a:rPr>
              <a:t>Edge</a:t>
            </a:r>
            <a:r>
              <a:rPr lang="sk-SK" sz="2100" b="1" noProof="0" dirty="0">
                <a:solidFill>
                  <a:srgbClr val="EDF5FF"/>
                </a:solidFill>
              </a:rPr>
              <a:t> </a:t>
            </a:r>
            <a:r>
              <a:rPr lang="sk-SK" sz="2100" b="1" noProof="0" dirty="0" err="1">
                <a:solidFill>
                  <a:srgbClr val="EDF5FF"/>
                </a:solidFill>
              </a:rPr>
              <a:t>extension</a:t>
            </a:r>
            <a:endParaRPr lang="sk-SK" sz="2100" b="1" noProof="0" dirty="0">
              <a:solidFill>
                <a:srgbClr val="EDF5FF"/>
              </a:solidFill>
            </a:endParaRPr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F9164E0E-E084-45E4-BFBF-89986A4BD784}"/>
              </a:ext>
            </a:extLst>
          </p:cNvPr>
          <p:cNvSpPr>
            <a:spLocks noGrp="1"/>
          </p:cNvSpPr>
          <p:nvPr/>
        </p:nvSpPr>
        <p:spPr>
          <a:xfrm>
            <a:off x="8212668" y="3363383"/>
            <a:ext cx="25527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BC0DE"/>
                </a:solidFill>
              </a:defRPr>
            </a:pPr>
            <a:r>
              <a:rPr lang="sk-SK" sz="1350" b="0" noProof="0" dirty="0">
                <a:solidFill>
                  <a:srgbClr val="ABC0DE"/>
                </a:solidFill>
              </a:rPr>
              <a:t>Rozšírenie zobrazí </a:t>
            </a:r>
            <a:r>
              <a:rPr lang="sk-SK" sz="1350" b="0" noProof="0" dirty="0" err="1">
                <a:solidFill>
                  <a:srgbClr val="ABC0DE"/>
                </a:solidFill>
              </a:rPr>
              <a:t>popover</a:t>
            </a:r>
            <a:r>
              <a:rPr lang="sk-SK" sz="1350" b="0" noProof="0" dirty="0">
                <a:solidFill>
                  <a:srgbClr val="ABC0DE"/>
                </a:solidFill>
              </a:rPr>
              <a:t> pri formulári, používateľ vyberie profil a systém doplní relevantné polia v rámci formulára.</a:t>
            </a:r>
          </a:p>
        </p:txBody>
      </p:sp>
      <p:sp>
        <p:nvSpPr>
          <p:cNvPr id="23" name="Obdĺžnik: zaoblené rohy 22">
            <a:extLst>
              <a:ext uri="{FF2B5EF4-FFF2-40B4-BE49-F238E27FC236}">
                <a16:creationId xmlns:a16="http://schemas.microsoft.com/office/drawing/2014/main" id="{F32286EA-92AC-457D-AA3E-C443227D045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3486150" cy="381000"/>
          </a:xfrm>
          <a:prstGeom prst="roundRect">
            <a:avLst>
              <a:gd name="adj" fmla="val 20000"/>
            </a:avLst>
          </a:prstGeom>
          <a:solidFill>
            <a:srgbClr val="1631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>
                <a:solidFill>
                  <a:srgbClr val="EDF5FF"/>
                </a:solidFill>
              </a:rPr>
              <a:t>1 klik namiesto ručného vypisovania</a:t>
            </a:r>
          </a:p>
        </p:txBody>
      </p:sp>
      <p:sp>
        <p:nvSpPr>
          <p:cNvPr id="24" name="Obdĺžnik: zaoblené rohy 23">
            <a:extLst>
              <a:ext uri="{FF2B5EF4-FFF2-40B4-BE49-F238E27FC236}">
                <a16:creationId xmlns:a16="http://schemas.microsoft.com/office/drawing/2014/main" id="{AEF3A1E5-6E42-4717-9671-2D79ED672A3E}"/>
              </a:ext>
            </a:extLst>
          </p:cNvPr>
          <p:cNvSpPr>
            <a:spLocks noGrp="1"/>
          </p:cNvSpPr>
          <p:nvPr/>
        </p:nvSpPr>
        <p:spPr>
          <a:xfrm>
            <a:off x="4343400" y="5867400"/>
            <a:ext cx="3848100" cy="381000"/>
          </a:xfrm>
          <a:prstGeom prst="roundRect">
            <a:avLst>
              <a:gd name="adj" fmla="val 20000"/>
            </a:avLst>
          </a:prstGeom>
          <a:solidFill>
            <a:srgbClr val="1538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>
                <a:solidFill>
                  <a:srgbClr val="EDF5FF"/>
                </a:solidFill>
              </a:rPr>
              <a:t>Viac profilov + heuristické mapovanie polí</a:t>
            </a: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5002FD23-18A1-4E6D-B505-B47EDE6F4042}"/>
              </a:ext>
            </a:extLst>
          </p:cNvPr>
          <p:cNvSpPr>
            <a:spLocks noGrp="1"/>
          </p:cNvSpPr>
          <p:nvPr/>
        </p:nvSpPr>
        <p:spPr>
          <a:xfrm>
            <a:off x="8362950" y="5867400"/>
            <a:ext cx="3124200" cy="381000"/>
          </a:xfrm>
          <a:prstGeom prst="roundRect">
            <a:avLst>
              <a:gd name="adj" fmla="val 20000"/>
            </a:avLst>
          </a:prstGeom>
          <a:solidFill>
            <a:srgbClr val="1B32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>
                <a:solidFill>
                  <a:srgbClr val="EDF5FF"/>
                </a:solidFill>
              </a:rPr>
              <a:t>Lokálne rozšírenie bez zložitej inštalácie</a:t>
            </a:r>
          </a:p>
        </p:txBody>
      </p:sp>
    </p:spTree>
    <p:extLst>
      <p:ext uri="{BB962C8B-B14F-4D97-AF65-F5344CB8AC3E}">
        <p14:creationId xmlns:p14="http://schemas.microsoft.com/office/powerpoint/2010/main" val="161706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ál 1">
            <a:extLst>
              <a:ext uri="{FF2B5EF4-FFF2-40B4-BE49-F238E27FC236}">
                <a16:creationId xmlns:a16="http://schemas.microsoft.com/office/drawing/2014/main" id="{3F5DED03-B733-45DD-92AD-13B02E01E5CD}"/>
              </a:ext>
            </a:extLst>
          </p:cNvPr>
          <p:cNvSpPr>
            <a:spLocks noGrp="1"/>
          </p:cNvSpPr>
          <p:nvPr/>
        </p:nvSpPr>
        <p:spPr>
          <a:xfrm>
            <a:off x="-762000" y="-1143000"/>
            <a:ext cx="4000500" cy="4000500"/>
          </a:xfrm>
          <a:prstGeom prst="ellipse">
            <a:avLst/>
          </a:prstGeom>
          <a:solidFill>
            <a:srgbClr val="57A8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BEA19A82-B53C-4311-9595-5E3EA17C9060}"/>
              </a:ext>
            </a:extLst>
          </p:cNvPr>
          <p:cNvSpPr>
            <a:spLocks noGrp="1"/>
          </p:cNvSpPr>
          <p:nvPr/>
        </p:nvSpPr>
        <p:spPr>
          <a:xfrm>
            <a:off x="9144000" y="-1047750"/>
            <a:ext cx="3429000" cy="3429000"/>
          </a:xfrm>
          <a:prstGeom prst="ellipse">
            <a:avLst/>
          </a:prstGeom>
          <a:solidFill>
            <a:srgbClr val="7FE0BE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1A1A7B82-B54A-4C5C-B480-D10B33114E86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3238500" cy="2095500"/>
          </a:xfrm>
          <a:prstGeom prst="ellipse">
            <a:avLst/>
          </a:prstGeom>
          <a:solidFill>
            <a:srgbClr val="57A8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5" name="Obdĺžnik 4">
            <a:extLst>
              <a:ext uri="{FF2B5EF4-FFF2-40B4-BE49-F238E27FC236}">
                <a16:creationId xmlns:a16="http://schemas.microsoft.com/office/drawing/2014/main" id="{15EAACF0-603C-4AF8-89D3-6996B90BCEB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FE0BE"/>
                </a:solidFill>
              </a:defRPr>
            </a:pPr>
            <a:r>
              <a:rPr lang="sk-SK" sz="975" b="1" noProof="0" dirty="0">
                <a:solidFill>
                  <a:srgbClr val="7FE0BE"/>
                </a:solidFill>
              </a:rPr>
              <a:t>VÝSLEDOK DOTAZNÍKU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1011F7A4-8F38-4032-9A8C-D960652755A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2550" b="1" noProof="0" dirty="0">
                <a:solidFill>
                  <a:srgbClr val="EDF5FF"/>
                </a:solidFill>
              </a:rPr>
              <a:t>Validácia záujmu o produkt</a:t>
            </a: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7A6ADBD5-8D9B-40F7-8269-62D6DEF348E6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BC0DE"/>
                </a:solidFill>
              </a:defRPr>
            </a:pPr>
            <a:r>
              <a:rPr lang="sk-SK" sz="1350" b="0" noProof="0" dirty="0">
                <a:solidFill>
                  <a:srgbClr val="ABC0DE"/>
                </a:solidFill>
              </a:rPr>
              <a:t>Dotazník naznačil, že problém je reálny a ľudia by takéto rozšírenie chceli používať.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FECCF807-C204-4A27-A94C-EEA57E78465C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334000" cy="3867150"/>
          </a:xfrm>
          <a:prstGeom prst="roundRect">
            <a:avLst>
              <a:gd name="adj" fmla="val 1970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pic>
        <p:nvPicPr>
          <p:cNvPr id="9" name="Obrázok 8"/>
          <p:cNvPicPr>
            <a:picLocks noChangeAspect="1"/>
          </p:cNvPicPr>
          <p:nvPr/>
        </p:nvPicPr>
        <p:blipFill>
          <a:blip r:embed="rId3"/>
          <a:srcRect t="10035" b="10035"/>
          <a:stretch>
            <a:fillRect/>
          </a:stretch>
        </p:blipFill>
        <p:spPr>
          <a:xfrm>
            <a:off x="838200" y="2286000"/>
            <a:ext cx="5029200" cy="3562350"/>
          </a:xfrm>
          <a:prstGeom prst="rect">
            <a:avLst/>
          </a:prstGeom>
        </p:spPr>
      </p:pic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4B2A45FE-F5D0-4F85-AFCF-73256808B9C4}"/>
              </a:ext>
            </a:extLst>
          </p:cNvPr>
          <p:cNvSpPr>
            <a:spLocks noGrp="1"/>
          </p:cNvSpPr>
          <p:nvPr/>
        </p:nvSpPr>
        <p:spPr>
          <a:xfrm>
            <a:off x="6343650" y="2133600"/>
            <a:ext cx="5162550" cy="3867150"/>
          </a:xfrm>
          <a:prstGeom prst="roundRect">
            <a:avLst>
              <a:gd name="adj" fmla="val 1970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F26B8052-84A4-4D44-B9BE-0D5E5B594CD4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7FE0BE"/>
                </a:solidFill>
              </a:defRPr>
            </a:pPr>
            <a:r>
              <a:rPr lang="sk-SK" sz="1125" b="1" noProof="0" dirty="0">
                <a:solidFill>
                  <a:srgbClr val="7FE0BE"/>
                </a:solidFill>
              </a:rPr>
              <a:t>7 odpovedí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566C29E9-F61D-40A8-A729-EC9514FFC5E4}"/>
              </a:ext>
            </a:extLst>
          </p:cNvPr>
          <p:cNvSpPr>
            <a:spLocks noGrp="1"/>
          </p:cNvSpPr>
          <p:nvPr/>
        </p:nvSpPr>
        <p:spPr>
          <a:xfrm>
            <a:off x="6667500" y="2857500"/>
            <a:ext cx="2133600" cy="1257300"/>
          </a:xfrm>
          <a:prstGeom prst="roundRect">
            <a:avLst>
              <a:gd name="adj" fmla="val 6061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3" name="Obdĺžnik 12">
            <a:extLst>
              <a:ext uri="{FF2B5EF4-FFF2-40B4-BE49-F238E27FC236}">
                <a16:creationId xmlns:a16="http://schemas.microsoft.com/office/drawing/2014/main" id="{8861D1A0-7620-4C76-B0BA-EE1B5EC5788B}"/>
              </a:ext>
            </a:extLst>
          </p:cNvPr>
          <p:cNvSpPr>
            <a:spLocks noGrp="1"/>
          </p:cNvSpPr>
          <p:nvPr/>
        </p:nvSpPr>
        <p:spPr>
          <a:xfrm>
            <a:off x="6667500" y="2857500"/>
            <a:ext cx="76200" cy="12573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4C8012D2-3154-4129-BC2A-55E680A3C0B2}"/>
              </a:ext>
            </a:extLst>
          </p:cNvPr>
          <p:cNvSpPr>
            <a:spLocks noGrp="1"/>
          </p:cNvSpPr>
          <p:nvPr/>
        </p:nvSpPr>
        <p:spPr>
          <a:xfrm>
            <a:off x="6838950" y="300990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2550" b="1" noProof="0" dirty="0">
                <a:solidFill>
                  <a:srgbClr val="EDF5FF"/>
                </a:solidFill>
              </a:rPr>
              <a:t>100 %</a:t>
            </a:r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5E33CC1E-11FE-4BA2-A5A4-0E4F1EE5DD78}"/>
              </a:ext>
            </a:extLst>
          </p:cNvPr>
          <p:cNvSpPr>
            <a:spLocks noGrp="1"/>
          </p:cNvSpPr>
          <p:nvPr/>
        </p:nvSpPr>
        <p:spPr>
          <a:xfrm>
            <a:off x="6838950" y="3486150"/>
            <a:ext cx="1790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považuje nápad za dobrý</a:t>
            </a: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84AE2750-15A8-4820-90E1-FDB1D90CBBCC}"/>
              </a:ext>
            </a:extLst>
          </p:cNvPr>
          <p:cNvSpPr>
            <a:spLocks noGrp="1"/>
          </p:cNvSpPr>
          <p:nvPr/>
        </p:nvSpPr>
        <p:spPr>
          <a:xfrm>
            <a:off x="9105900" y="2857500"/>
            <a:ext cx="2133600" cy="1257300"/>
          </a:xfrm>
          <a:prstGeom prst="roundRect">
            <a:avLst>
              <a:gd name="adj" fmla="val 6061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7" name="Obdĺžnik 16">
            <a:extLst>
              <a:ext uri="{FF2B5EF4-FFF2-40B4-BE49-F238E27FC236}">
                <a16:creationId xmlns:a16="http://schemas.microsoft.com/office/drawing/2014/main" id="{D280631F-B5C2-484D-872E-247FAD0490B3}"/>
              </a:ext>
            </a:extLst>
          </p:cNvPr>
          <p:cNvSpPr>
            <a:spLocks noGrp="1"/>
          </p:cNvSpPr>
          <p:nvPr/>
        </p:nvSpPr>
        <p:spPr>
          <a:xfrm>
            <a:off x="9105900" y="2857500"/>
            <a:ext cx="76200" cy="12573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2052934F-D9D0-42AF-AAA0-C7E42101694E}"/>
              </a:ext>
            </a:extLst>
          </p:cNvPr>
          <p:cNvSpPr>
            <a:spLocks noGrp="1"/>
          </p:cNvSpPr>
          <p:nvPr/>
        </p:nvSpPr>
        <p:spPr>
          <a:xfrm>
            <a:off x="9277350" y="300990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2550" b="1" noProof="0" dirty="0">
                <a:solidFill>
                  <a:srgbClr val="EDF5FF"/>
                </a:solidFill>
              </a:rPr>
              <a:t>100 %</a:t>
            </a:r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F3E29DB7-D7A8-4E7A-BF6E-A33ED0935ADA}"/>
              </a:ext>
            </a:extLst>
          </p:cNvPr>
          <p:cNvSpPr>
            <a:spLocks noGrp="1"/>
          </p:cNvSpPr>
          <p:nvPr/>
        </p:nvSpPr>
        <p:spPr>
          <a:xfrm>
            <a:off x="9277350" y="3486150"/>
            <a:ext cx="1790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by chcelo takúto </a:t>
            </a:r>
            <a:r>
              <a:rPr lang="sk-SK" sz="1200" b="0" noProof="0" dirty="0" err="1">
                <a:solidFill>
                  <a:srgbClr val="ABC0DE"/>
                </a:solidFill>
              </a:rPr>
              <a:t>custom</a:t>
            </a:r>
            <a:r>
              <a:rPr lang="sk-SK" sz="1200" b="0" noProof="0" dirty="0">
                <a:solidFill>
                  <a:srgbClr val="ABC0DE"/>
                </a:solidFill>
              </a:rPr>
              <a:t> </a:t>
            </a:r>
            <a:r>
              <a:rPr lang="sk-SK" sz="1200" b="0" noProof="0" dirty="0" err="1">
                <a:solidFill>
                  <a:srgbClr val="ABC0DE"/>
                </a:solidFill>
              </a:rPr>
              <a:t>extension</a:t>
            </a:r>
            <a:endParaRPr lang="sk-SK" sz="1200" b="0" noProof="0" dirty="0">
              <a:solidFill>
                <a:srgbClr val="ABC0DE"/>
              </a:solidFill>
            </a:endParaRP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2E5F9412-2D08-409A-A101-FA3EA21B06BE}"/>
              </a:ext>
            </a:extLst>
          </p:cNvPr>
          <p:cNvSpPr>
            <a:spLocks noGrp="1"/>
          </p:cNvSpPr>
          <p:nvPr/>
        </p:nvSpPr>
        <p:spPr>
          <a:xfrm>
            <a:off x="6667500" y="4438650"/>
            <a:ext cx="2133600" cy="1257300"/>
          </a:xfrm>
          <a:prstGeom prst="roundRect">
            <a:avLst>
              <a:gd name="adj" fmla="val 6061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7789EE16-8E1F-499A-B0BB-FD9B72621EA4}"/>
              </a:ext>
            </a:extLst>
          </p:cNvPr>
          <p:cNvSpPr>
            <a:spLocks noGrp="1"/>
          </p:cNvSpPr>
          <p:nvPr/>
        </p:nvSpPr>
        <p:spPr>
          <a:xfrm>
            <a:off x="6667500" y="4438650"/>
            <a:ext cx="76200" cy="12573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0AC7D927-A5C9-412C-9A30-4FAA00DACAD9}"/>
              </a:ext>
            </a:extLst>
          </p:cNvPr>
          <p:cNvSpPr>
            <a:spLocks noGrp="1"/>
          </p:cNvSpPr>
          <p:nvPr/>
        </p:nvSpPr>
        <p:spPr>
          <a:xfrm>
            <a:off x="6838950" y="459105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2550" b="1" noProof="0" dirty="0">
                <a:solidFill>
                  <a:srgbClr val="EDF5FF"/>
                </a:solidFill>
              </a:rPr>
              <a:t>57,1 %</a:t>
            </a:r>
          </a:p>
        </p:txBody>
      </p:sp>
      <p:sp>
        <p:nvSpPr>
          <p:cNvPr id="23" name="Obdĺžnik 22">
            <a:extLst>
              <a:ext uri="{FF2B5EF4-FFF2-40B4-BE49-F238E27FC236}">
                <a16:creationId xmlns:a16="http://schemas.microsoft.com/office/drawing/2014/main" id="{4A372A56-66FD-4CBF-8D46-FE04E334E364}"/>
              </a:ext>
            </a:extLst>
          </p:cNvPr>
          <p:cNvSpPr>
            <a:spLocks noGrp="1"/>
          </p:cNvSpPr>
          <p:nvPr/>
        </p:nvSpPr>
        <p:spPr>
          <a:xfrm>
            <a:off x="6838950" y="5067300"/>
            <a:ext cx="1790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doteraz nepoužilo podobnú alternatívu</a:t>
            </a:r>
          </a:p>
        </p:txBody>
      </p:sp>
      <p:sp>
        <p:nvSpPr>
          <p:cNvPr id="24" name="Obdĺžnik: zaoblené rohy 23">
            <a:extLst>
              <a:ext uri="{FF2B5EF4-FFF2-40B4-BE49-F238E27FC236}">
                <a16:creationId xmlns:a16="http://schemas.microsoft.com/office/drawing/2014/main" id="{E9CC6D60-BD2E-46D0-BA92-621023D51AA2}"/>
              </a:ext>
            </a:extLst>
          </p:cNvPr>
          <p:cNvSpPr>
            <a:spLocks noGrp="1"/>
          </p:cNvSpPr>
          <p:nvPr/>
        </p:nvSpPr>
        <p:spPr>
          <a:xfrm>
            <a:off x="9105900" y="4438650"/>
            <a:ext cx="2133600" cy="1257300"/>
          </a:xfrm>
          <a:prstGeom prst="roundRect">
            <a:avLst>
              <a:gd name="adj" fmla="val 6061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5" name="Obdĺžnik 24">
            <a:extLst>
              <a:ext uri="{FF2B5EF4-FFF2-40B4-BE49-F238E27FC236}">
                <a16:creationId xmlns:a16="http://schemas.microsoft.com/office/drawing/2014/main" id="{AA076D25-1EB1-4D7C-8529-42B246035874}"/>
              </a:ext>
            </a:extLst>
          </p:cNvPr>
          <p:cNvSpPr>
            <a:spLocks noGrp="1"/>
          </p:cNvSpPr>
          <p:nvPr/>
        </p:nvSpPr>
        <p:spPr>
          <a:xfrm>
            <a:off x="9105900" y="4438650"/>
            <a:ext cx="76200" cy="12573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6" name="Obdĺžnik 25">
            <a:extLst>
              <a:ext uri="{FF2B5EF4-FFF2-40B4-BE49-F238E27FC236}">
                <a16:creationId xmlns:a16="http://schemas.microsoft.com/office/drawing/2014/main" id="{DA693791-5794-4D9A-93EF-26D7BB25BC60}"/>
              </a:ext>
            </a:extLst>
          </p:cNvPr>
          <p:cNvSpPr>
            <a:spLocks noGrp="1"/>
          </p:cNvSpPr>
          <p:nvPr/>
        </p:nvSpPr>
        <p:spPr>
          <a:xfrm>
            <a:off x="9277350" y="459105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2550" b="1" noProof="0" dirty="0">
                <a:solidFill>
                  <a:srgbClr val="EDF5FF"/>
                </a:solidFill>
              </a:rPr>
              <a:t>42,9 %</a:t>
            </a:r>
          </a:p>
        </p:txBody>
      </p:sp>
      <p:sp>
        <p:nvSpPr>
          <p:cNvPr id="27" name="Obdĺžnik 26">
            <a:extLst>
              <a:ext uri="{FF2B5EF4-FFF2-40B4-BE49-F238E27FC236}">
                <a16:creationId xmlns:a16="http://schemas.microsoft.com/office/drawing/2014/main" id="{9C20C9C9-7C0B-4BAA-BDCF-FC697FEFC29D}"/>
              </a:ext>
            </a:extLst>
          </p:cNvPr>
          <p:cNvSpPr>
            <a:spLocks noGrp="1"/>
          </p:cNvSpPr>
          <p:nvPr/>
        </p:nvSpPr>
        <p:spPr>
          <a:xfrm>
            <a:off x="9277350" y="5067300"/>
            <a:ext cx="1790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už pozná alebo používa podobný spôsob</a:t>
            </a:r>
          </a:p>
        </p:txBody>
      </p:sp>
      <p:sp>
        <p:nvSpPr>
          <p:cNvPr id="28" name="Obdĺžnik 27">
            <a:extLst>
              <a:ext uri="{FF2B5EF4-FFF2-40B4-BE49-F238E27FC236}">
                <a16:creationId xmlns:a16="http://schemas.microsoft.com/office/drawing/2014/main" id="{6854041D-D14B-4C09-8105-CD33A998B78F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01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Záver: produkt má jasný </a:t>
            </a:r>
            <a:r>
              <a:rPr lang="sk-SK" sz="1200" b="0" noProof="0" dirty="0" err="1">
                <a:solidFill>
                  <a:srgbClr val="ABC0DE"/>
                </a:solidFill>
              </a:rPr>
              <a:t>use-case</a:t>
            </a:r>
            <a:r>
              <a:rPr lang="sk-SK" sz="1200" b="0" noProof="0" dirty="0">
                <a:solidFill>
                  <a:srgbClr val="ABC0DE"/>
                </a:solidFill>
              </a:rPr>
              <a:t> a nízky prah pochopenia. Ľudia presne vedia, na čo by ho použili.</a:t>
            </a:r>
          </a:p>
        </p:txBody>
      </p:sp>
    </p:spTree>
    <p:extLst>
      <p:ext uri="{BB962C8B-B14F-4D97-AF65-F5344CB8AC3E}">
        <p14:creationId xmlns:p14="http://schemas.microsoft.com/office/powerpoint/2010/main" val="74617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ál 1">
            <a:extLst>
              <a:ext uri="{FF2B5EF4-FFF2-40B4-BE49-F238E27FC236}">
                <a16:creationId xmlns:a16="http://schemas.microsoft.com/office/drawing/2014/main" id="{537FEEFA-1848-4CA8-A377-E66B223DB61B}"/>
              </a:ext>
            </a:extLst>
          </p:cNvPr>
          <p:cNvSpPr>
            <a:spLocks noGrp="1"/>
          </p:cNvSpPr>
          <p:nvPr/>
        </p:nvSpPr>
        <p:spPr>
          <a:xfrm>
            <a:off x="-762000" y="-1143000"/>
            <a:ext cx="4000500" cy="4000500"/>
          </a:xfrm>
          <a:prstGeom prst="ellipse">
            <a:avLst/>
          </a:prstGeom>
          <a:solidFill>
            <a:srgbClr val="57A8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D22B495A-137D-4ED9-88B6-B34CBE384109}"/>
              </a:ext>
            </a:extLst>
          </p:cNvPr>
          <p:cNvSpPr>
            <a:spLocks noGrp="1"/>
          </p:cNvSpPr>
          <p:nvPr/>
        </p:nvSpPr>
        <p:spPr>
          <a:xfrm>
            <a:off x="9144000" y="-1047750"/>
            <a:ext cx="3429000" cy="3429000"/>
          </a:xfrm>
          <a:prstGeom prst="ellipse">
            <a:avLst/>
          </a:prstGeom>
          <a:solidFill>
            <a:srgbClr val="7FE0BE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69EA65B8-1E87-44B8-9CD6-3F74F62C3D3F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3238500" cy="2095500"/>
          </a:xfrm>
          <a:prstGeom prst="ellipse">
            <a:avLst/>
          </a:prstGeom>
          <a:solidFill>
            <a:srgbClr val="57A8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5" name="Obdĺžnik 4">
            <a:extLst>
              <a:ext uri="{FF2B5EF4-FFF2-40B4-BE49-F238E27FC236}">
                <a16:creationId xmlns:a16="http://schemas.microsoft.com/office/drawing/2014/main" id="{463791A6-2F40-4DD7-9DDB-8C9B639D5A5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FE0BE"/>
                </a:solidFill>
              </a:defRPr>
            </a:pPr>
            <a:r>
              <a:rPr lang="sk-SK" sz="975" b="1" noProof="0" dirty="0">
                <a:solidFill>
                  <a:srgbClr val="7FE0BE"/>
                </a:solidFill>
              </a:rPr>
              <a:t>MVP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7DF10AEA-0DA4-4428-9E15-E9E7C8C5EF1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2550" b="1" noProof="0" dirty="0">
                <a:solidFill>
                  <a:srgbClr val="EDF5FF"/>
                </a:solidFill>
              </a:rPr>
              <a:t>Čo tvorí jadro produktu</a:t>
            </a: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0A9E153B-D0FB-4C1E-BADE-EB45BB5E5667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BC0DE"/>
                </a:solidFill>
              </a:defRPr>
            </a:pPr>
            <a:r>
              <a:rPr lang="sk-SK" sz="1350" b="0" noProof="0" dirty="0" err="1">
                <a:solidFill>
                  <a:srgbClr val="ABC0DE"/>
                </a:solidFill>
              </a:rPr>
              <a:t>Fokus</a:t>
            </a:r>
            <a:r>
              <a:rPr lang="sk-SK" sz="1350" b="0" noProof="0" dirty="0">
                <a:solidFill>
                  <a:srgbClr val="ABC0DE"/>
                </a:solidFill>
              </a:rPr>
              <a:t> bol na funkciách, ktoré dávajú používateľovi okamžitú hodnotu už v prvej verzii.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46FAEBEF-BA98-418A-8916-0D4728B7CB0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276850" cy="4057650"/>
          </a:xfrm>
          <a:prstGeom prst="roundRect">
            <a:avLst>
              <a:gd name="adj" fmla="val 1878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44869D3D-B15F-4C4E-9933-06E248BFBFB4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76200" cy="4057650"/>
          </a:xfrm>
          <a:prstGeom prst="rect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98C9DD5E-3B82-4A63-9E62-33169C9C93A9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EDF5FF"/>
                </a:solidFill>
              </a:defRPr>
            </a:pPr>
            <a:r>
              <a:rPr lang="sk-SK" sz="1800" b="1" noProof="0" dirty="0">
                <a:solidFill>
                  <a:srgbClr val="EDF5FF"/>
                </a:solidFill>
              </a:rPr>
              <a:t>Hotové jadro MVP</a:t>
            </a:r>
          </a:p>
        </p:txBody>
      </p:sp>
      <p:sp>
        <p:nvSpPr>
          <p:cNvPr id="11" name="Ovál 10">
            <a:extLst>
              <a:ext uri="{FF2B5EF4-FFF2-40B4-BE49-F238E27FC236}">
                <a16:creationId xmlns:a16="http://schemas.microsoft.com/office/drawing/2014/main" id="{16C3AA87-8225-402E-9C0E-D96E5DE8F735}"/>
              </a:ext>
            </a:extLst>
          </p:cNvPr>
          <p:cNvSpPr>
            <a:spLocks noGrp="1"/>
          </p:cNvSpPr>
          <p:nvPr/>
        </p:nvSpPr>
        <p:spPr>
          <a:xfrm>
            <a:off x="971550" y="2933700"/>
            <a:ext cx="171450" cy="171450"/>
          </a:xfrm>
          <a:prstGeom prst="ellipse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2" name="Obdĺžnik 11">
            <a:extLst>
              <a:ext uri="{FF2B5EF4-FFF2-40B4-BE49-F238E27FC236}">
                <a16:creationId xmlns:a16="http://schemas.microsoft.com/office/drawing/2014/main" id="{899BF1FA-A0E7-4F40-A7B5-7D732097DE82}"/>
              </a:ext>
            </a:extLst>
          </p:cNvPr>
          <p:cNvSpPr>
            <a:spLocks noGrp="1"/>
          </p:cNvSpPr>
          <p:nvPr/>
        </p:nvSpPr>
        <p:spPr>
          <a:xfrm>
            <a:off x="1276350" y="2857500"/>
            <a:ext cx="426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EDF5FF"/>
                </a:solidFill>
              </a:defRPr>
            </a:pPr>
            <a:r>
              <a:rPr lang="sk-SK" sz="1350" b="0" noProof="0" dirty="0">
                <a:solidFill>
                  <a:srgbClr val="EDF5FF"/>
                </a:solidFill>
              </a:rPr>
              <a:t>vytvorenie, úprava a odstránenie profilu</a:t>
            </a:r>
          </a:p>
        </p:txBody>
      </p:sp>
      <p:sp>
        <p:nvSpPr>
          <p:cNvPr id="13" name="Ovál 12">
            <a:extLst>
              <a:ext uri="{FF2B5EF4-FFF2-40B4-BE49-F238E27FC236}">
                <a16:creationId xmlns:a16="http://schemas.microsoft.com/office/drawing/2014/main" id="{A90C184E-A3A8-42B7-A929-C56349ECDA36}"/>
              </a:ext>
            </a:extLst>
          </p:cNvPr>
          <p:cNvSpPr>
            <a:spLocks noGrp="1"/>
          </p:cNvSpPr>
          <p:nvPr/>
        </p:nvSpPr>
        <p:spPr>
          <a:xfrm>
            <a:off x="971550" y="3409950"/>
            <a:ext cx="171450" cy="171450"/>
          </a:xfrm>
          <a:prstGeom prst="ellipse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6BA6D307-2D73-4A35-9129-A582DBD6B4FC}"/>
              </a:ext>
            </a:extLst>
          </p:cNvPr>
          <p:cNvSpPr>
            <a:spLocks noGrp="1"/>
          </p:cNvSpPr>
          <p:nvPr/>
        </p:nvSpPr>
        <p:spPr>
          <a:xfrm>
            <a:off x="1276350" y="3333750"/>
            <a:ext cx="426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EDF5FF"/>
                </a:solidFill>
              </a:defRPr>
            </a:pPr>
            <a:r>
              <a:rPr lang="sk-SK" sz="1350" b="0" noProof="0" dirty="0">
                <a:solidFill>
                  <a:srgbClr val="EDF5FF"/>
                </a:solidFill>
              </a:rPr>
              <a:t>zoznam profilov v </a:t>
            </a:r>
            <a:r>
              <a:rPr lang="sk-SK" sz="1350" b="0" noProof="0" dirty="0" err="1">
                <a:solidFill>
                  <a:srgbClr val="EDF5FF"/>
                </a:solidFill>
              </a:rPr>
              <a:t>options</a:t>
            </a:r>
            <a:r>
              <a:rPr lang="sk-SK" sz="1350" b="0" noProof="0" dirty="0">
                <a:solidFill>
                  <a:srgbClr val="EDF5FF"/>
                </a:solidFill>
              </a:rPr>
              <a:t> stránke</a:t>
            </a:r>
          </a:p>
        </p:txBody>
      </p:sp>
      <p:sp>
        <p:nvSpPr>
          <p:cNvPr id="15" name="Ovál 14">
            <a:extLst>
              <a:ext uri="{FF2B5EF4-FFF2-40B4-BE49-F238E27FC236}">
                <a16:creationId xmlns:a16="http://schemas.microsoft.com/office/drawing/2014/main" id="{CEB355F5-C39F-4DBE-A689-DA1231CFDE2C}"/>
              </a:ext>
            </a:extLst>
          </p:cNvPr>
          <p:cNvSpPr>
            <a:spLocks noGrp="1"/>
          </p:cNvSpPr>
          <p:nvPr/>
        </p:nvSpPr>
        <p:spPr>
          <a:xfrm>
            <a:off x="971550" y="3886200"/>
            <a:ext cx="171450" cy="171450"/>
          </a:xfrm>
          <a:prstGeom prst="ellipse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8BBDB466-E431-4B25-B4F5-40E718D1FEF0}"/>
              </a:ext>
            </a:extLst>
          </p:cNvPr>
          <p:cNvSpPr>
            <a:spLocks noGrp="1"/>
          </p:cNvSpPr>
          <p:nvPr/>
        </p:nvSpPr>
        <p:spPr>
          <a:xfrm>
            <a:off x="1276350" y="3810000"/>
            <a:ext cx="426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EDF5FF"/>
                </a:solidFill>
              </a:defRPr>
            </a:pPr>
            <a:r>
              <a:rPr lang="sk-SK" sz="1350" b="0" noProof="0" dirty="0">
                <a:solidFill>
                  <a:srgbClr val="EDF5FF"/>
                </a:solidFill>
              </a:rPr>
              <a:t>výber profilu priamo pri formulári</a:t>
            </a:r>
          </a:p>
        </p:txBody>
      </p:sp>
      <p:sp>
        <p:nvSpPr>
          <p:cNvPr id="17" name="Ovál 16">
            <a:extLst>
              <a:ext uri="{FF2B5EF4-FFF2-40B4-BE49-F238E27FC236}">
                <a16:creationId xmlns:a16="http://schemas.microsoft.com/office/drawing/2014/main" id="{A4B2D008-B410-44A6-9DB1-97C1FB37051E}"/>
              </a:ext>
            </a:extLst>
          </p:cNvPr>
          <p:cNvSpPr>
            <a:spLocks noGrp="1"/>
          </p:cNvSpPr>
          <p:nvPr/>
        </p:nvSpPr>
        <p:spPr>
          <a:xfrm>
            <a:off x="971550" y="4362450"/>
            <a:ext cx="171450" cy="171450"/>
          </a:xfrm>
          <a:prstGeom prst="ellipse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93DD6CE2-6FE9-4BB3-816D-30F8DA8B07BD}"/>
              </a:ext>
            </a:extLst>
          </p:cNvPr>
          <p:cNvSpPr>
            <a:spLocks noGrp="1"/>
          </p:cNvSpPr>
          <p:nvPr/>
        </p:nvSpPr>
        <p:spPr>
          <a:xfrm>
            <a:off x="1276350" y="4286250"/>
            <a:ext cx="426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EDF5FF"/>
                </a:solidFill>
              </a:defRPr>
            </a:pPr>
            <a:r>
              <a:rPr lang="sk-SK" sz="1350" b="0" noProof="0" dirty="0">
                <a:solidFill>
                  <a:srgbClr val="EDF5FF"/>
                </a:solidFill>
              </a:rPr>
              <a:t>rozpoznávanie polí formulára</a:t>
            </a:r>
          </a:p>
        </p:txBody>
      </p:sp>
      <p:sp>
        <p:nvSpPr>
          <p:cNvPr id="19" name="Ovál 18">
            <a:extLst>
              <a:ext uri="{FF2B5EF4-FFF2-40B4-BE49-F238E27FC236}">
                <a16:creationId xmlns:a16="http://schemas.microsoft.com/office/drawing/2014/main" id="{C7CE764C-38BD-4F78-8594-46109C69AB4B}"/>
              </a:ext>
            </a:extLst>
          </p:cNvPr>
          <p:cNvSpPr>
            <a:spLocks noGrp="1"/>
          </p:cNvSpPr>
          <p:nvPr/>
        </p:nvSpPr>
        <p:spPr>
          <a:xfrm>
            <a:off x="971550" y="4838700"/>
            <a:ext cx="171450" cy="171450"/>
          </a:xfrm>
          <a:prstGeom prst="ellipse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D3E94444-0E2F-47A0-8625-33A1287C92A6}"/>
              </a:ext>
            </a:extLst>
          </p:cNvPr>
          <p:cNvSpPr>
            <a:spLocks noGrp="1"/>
          </p:cNvSpPr>
          <p:nvPr/>
        </p:nvSpPr>
        <p:spPr>
          <a:xfrm>
            <a:off x="1276350" y="4762500"/>
            <a:ext cx="426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EDF5FF"/>
                </a:solidFill>
              </a:defRPr>
            </a:pPr>
            <a:r>
              <a:rPr lang="sk-SK" sz="1350" b="0" noProof="0" dirty="0">
                <a:solidFill>
                  <a:srgbClr val="EDF5FF"/>
                </a:solidFill>
              </a:rPr>
              <a:t>podpora firemných údajov a viacerých kontaktov</a:t>
            </a:r>
          </a:p>
        </p:txBody>
      </p:sp>
      <p:sp>
        <p:nvSpPr>
          <p:cNvPr id="21" name="Ovál 20">
            <a:extLst>
              <a:ext uri="{FF2B5EF4-FFF2-40B4-BE49-F238E27FC236}">
                <a16:creationId xmlns:a16="http://schemas.microsoft.com/office/drawing/2014/main" id="{80EC65A7-7EAE-42FD-A757-970E7749CA97}"/>
              </a:ext>
            </a:extLst>
          </p:cNvPr>
          <p:cNvSpPr>
            <a:spLocks noGrp="1"/>
          </p:cNvSpPr>
          <p:nvPr/>
        </p:nvSpPr>
        <p:spPr>
          <a:xfrm>
            <a:off x="971550" y="5314950"/>
            <a:ext cx="171450" cy="171450"/>
          </a:xfrm>
          <a:prstGeom prst="ellipse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762CB6EE-6719-435A-9526-70E1B6729036}"/>
              </a:ext>
            </a:extLst>
          </p:cNvPr>
          <p:cNvSpPr>
            <a:spLocks noGrp="1"/>
          </p:cNvSpPr>
          <p:nvPr/>
        </p:nvSpPr>
        <p:spPr>
          <a:xfrm>
            <a:off x="1276350" y="5238750"/>
            <a:ext cx="426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EDF5FF"/>
                </a:solidFill>
              </a:defRPr>
            </a:pPr>
            <a:r>
              <a:rPr lang="sk-SK" sz="1350" b="0" noProof="0" dirty="0">
                <a:solidFill>
                  <a:srgbClr val="EDF5FF"/>
                </a:solidFill>
              </a:rPr>
              <a:t>šifrovaný </a:t>
            </a:r>
            <a:r>
              <a:rPr lang="sk-SK" sz="1350" b="0" noProof="0" dirty="0" err="1">
                <a:solidFill>
                  <a:srgbClr val="EDF5FF"/>
                </a:solidFill>
              </a:rPr>
              <a:t>vault</a:t>
            </a:r>
            <a:endParaRPr lang="sk-SK" sz="1350" b="0" noProof="0" dirty="0">
              <a:solidFill>
                <a:srgbClr val="EDF5FF"/>
              </a:solidFill>
            </a:endParaRPr>
          </a:p>
        </p:txBody>
      </p:sp>
      <p:sp>
        <p:nvSpPr>
          <p:cNvPr id="24" name="Obdĺžnik: zaoblené rohy 23">
            <a:extLst>
              <a:ext uri="{FF2B5EF4-FFF2-40B4-BE49-F238E27FC236}">
                <a16:creationId xmlns:a16="http://schemas.microsoft.com/office/drawing/2014/main" id="{AB16CDC6-ECA0-4BAE-A8B8-30EDC7A81C88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5276850" cy="4057650"/>
          </a:xfrm>
          <a:prstGeom prst="roundRect">
            <a:avLst>
              <a:gd name="adj" fmla="val 1878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5" name="Obdĺžnik 24">
            <a:extLst>
              <a:ext uri="{FF2B5EF4-FFF2-40B4-BE49-F238E27FC236}">
                <a16:creationId xmlns:a16="http://schemas.microsoft.com/office/drawing/2014/main" id="{98B9BD9B-3CAD-4E61-8F1F-278A9071075B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76200" cy="4057650"/>
          </a:xfrm>
          <a:prstGeom prst="rect">
            <a:avLst/>
          </a:prstGeom>
          <a:solidFill>
            <a:srgbClr val="F6C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6" name="Obdĺžnik 25">
            <a:extLst>
              <a:ext uri="{FF2B5EF4-FFF2-40B4-BE49-F238E27FC236}">
                <a16:creationId xmlns:a16="http://schemas.microsoft.com/office/drawing/2014/main" id="{7EE428A2-1BCE-437F-A8A5-B4D766041C0B}"/>
              </a:ext>
            </a:extLst>
          </p:cNvPr>
          <p:cNvSpPr>
            <a:spLocks noGrp="1"/>
          </p:cNvSpPr>
          <p:nvPr/>
        </p:nvSpPr>
        <p:spPr>
          <a:xfrm>
            <a:off x="6496050" y="24003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EDF5FF"/>
                </a:solidFill>
              </a:defRPr>
            </a:pPr>
            <a:r>
              <a:rPr lang="sk-SK" sz="1800" b="1" noProof="0" dirty="0">
                <a:solidFill>
                  <a:srgbClr val="EDF5FF"/>
                </a:solidFill>
              </a:rPr>
              <a:t>Ďalší krok po MVP</a:t>
            </a:r>
          </a:p>
        </p:txBody>
      </p:sp>
      <p:sp>
        <p:nvSpPr>
          <p:cNvPr id="27" name="Obdĺžnik: zaoblené rohy 26">
            <a:extLst>
              <a:ext uri="{FF2B5EF4-FFF2-40B4-BE49-F238E27FC236}">
                <a16:creationId xmlns:a16="http://schemas.microsoft.com/office/drawing/2014/main" id="{A4BCB819-9F16-4B64-8560-A3BD788851F4}"/>
              </a:ext>
            </a:extLst>
          </p:cNvPr>
          <p:cNvSpPr>
            <a:spLocks noGrp="1"/>
          </p:cNvSpPr>
          <p:nvPr/>
        </p:nvSpPr>
        <p:spPr>
          <a:xfrm>
            <a:off x="6515100" y="2895600"/>
            <a:ext cx="4629150" cy="495300"/>
          </a:xfrm>
          <a:prstGeom prst="roundRect">
            <a:avLst>
              <a:gd name="adj" fmla="val 15385"/>
            </a:avLst>
          </a:prstGeom>
          <a:solidFill>
            <a:srgbClr val="12253D"/>
          </a:solidFill>
          <a:ln w="9525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8" name="Obdĺžnik 27">
            <a:extLst>
              <a:ext uri="{FF2B5EF4-FFF2-40B4-BE49-F238E27FC236}">
                <a16:creationId xmlns:a16="http://schemas.microsoft.com/office/drawing/2014/main" id="{335E7CDC-0DC0-4317-B226-7EFA44F8B6B7}"/>
              </a:ext>
            </a:extLst>
          </p:cNvPr>
          <p:cNvSpPr>
            <a:spLocks noGrp="1"/>
          </p:cNvSpPr>
          <p:nvPr/>
        </p:nvSpPr>
        <p:spPr>
          <a:xfrm>
            <a:off x="6724650" y="3019425"/>
            <a:ext cx="421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BC0DE"/>
                </a:solidFill>
              </a:defRPr>
            </a:pPr>
            <a:r>
              <a:rPr lang="sk-SK" sz="1275" b="0" noProof="0" dirty="0">
                <a:solidFill>
                  <a:srgbClr val="ABC0DE"/>
                </a:solidFill>
              </a:rPr>
              <a:t>vybrať len konkrétnu informáciu namiesto celého formulára</a:t>
            </a:r>
          </a:p>
        </p:txBody>
      </p:sp>
      <p:sp>
        <p:nvSpPr>
          <p:cNvPr id="29" name="Obdĺžnik: zaoblené rohy 28">
            <a:extLst>
              <a:ext uri="{FF2B5EF4-FFF2-40B4-BE49-F238E27FC236}">
                <a16:creationId xmlns:a16="http://schemas.microsoft.com/office/drawing/2014/main" id="{A17FFE28-4F39-4D28-B124-E96460C5B958}"/>
              </a:ext>
            </a:extLst>
          </p:cNvPr>
          <p:cNvSpPr>
            <a:spLocks noGrp="1"/>
          </p:cNvSpPr>
          <p:nvPr/>
        </p:nvSpPr>
        <p:spPr>
          <a:xfrm>
            <a:off x="6515100" y="3581400"/>
            <a:ext cx="4629150" cy="495300"/>
          </a:xfrm>
          <a:prstGeom prst="roundRect">
            <a:avLst>
              <a:gd name="adj" fmla="val 15385"/>
            </a:avLst>
          </a:prstGeom>
          <a:solidFill>
            <a:srgbClr val="12253D"/>
          </a:solidFill>
          <a:ln w="9525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0" name="Obdĺžnik 29">
            <a:extLst>
              <a:ext uri="{FF2B5EF4-FFF2-40B4-BE49-F238E27FC236}">
                <a16:creationId xmlns:a16="http://schemas.microsoft.com/office/drawing/2014/main" id="{C4B33197-8C74-4ED3-91C2-20BA61CEB209}"/>
              </a:ext>
            </a:extLst>
          </p:cNvPr>
          <p:cNvSpPr>
            <a:spLocks noGrp="1"/>
          </p:cNvSpPr>
          <p:nvPr/>
        </p:nvSpPr>
        <p:spPr>
          <a:xfrm>
            <a:off x="6724650" y="3705225"/>
            <a:ext cx="421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BC0DE"/>
                </a:solidFill>
              </a:defRPr>
            </a:pPr>
            <a:r>
              <a:rPr lang="sk-SK" sz="1275" b="0" noProof="0" dirty="0">
                <a:solidFill>
                  <a:srgbClr val="ABC0DE"/>
                </a:solidFill>
              </a:rPr>
              <a:t>zobraziť vopred, čo sa presne vyplní</a:t>
            </a:r>
          </a:p>
        </p:txBody>
      </p:sp>
      <p:sp>
        <p:nvSpPr>
          <p:cNvPr id="31" name="Obdĺžnik: zaoblené rohy 30">
            <a:extLst>
              <a:ext uri="{FF2B5EF4-FFF2-40B4-BE49-F238E27FC236}">
                <a16:creationId xmlns:a16="http://schemas.microsoft.com/office/drawing/2014/main" id="{B0991E31-5D43-40A7-9775-4BD20DCC3BA9}"/>
              </a:ext>
            </a:extLst>
          </p:cNvPr>
          <p:cNvSpPr>
            <a:spLocks noGrp="1"/>
          </p:cNvSpPr>
          <p:nvPr/>
        </p:nvSpPr>
        <p:spPr>
          <a:xfrm>
            <a:off x="6515100" y="4267200"/>
            <a:ext cx="4629150" cy="495300"/>
          </a:xfrm>
          <a:prstGeom prst="roundRect">
            <a:avLst>
              <a:gd name="adj" fmla="val 15385"/>
            </a:avLst>
          </a:prstGeom>
          <a:solidFill>
            <a:srgbClr val="12253D"/>
          </a:solidFill>
          <a:ln w="9525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2" name="Obdĺžnik 31">
            <a:extLst>
              <a:ext uri="{FF2B5EF4-FFF2-40B4-BE49-F238E27FC236}">
                <a16:creationId xmlns:a16="http://schemas.microsoft.com/office/drawing/2014/main" id="{510810CA-A7E1-4A13-A73F-E09F338D5E3A}"/>
              </a:ext>
            </a:extLst>
          </p:cNvPr>
          <p:cNvSpPr>
            <a:spLocks noGrp="1"/>
          </p:cNvSpPr>
          <p:nvPr/>
        </p:nvSpPr>
        <p:spPr>
          <a:xfrm>
            <a:off x="6724650" y="4391025"/>
            <a:ext cx="421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BC0DE"/>
                </a:solidFill>
              </a:defRPr>
            </a:pPr>
            <a:r>
              <a:rPr lang="sk-SK" sz="1275" b="0" noProof="0" dirty="0">
                <a:solidFill>
                  <a:srgbClr val="ABC0DE"/>
                </a:solidFill>
              </a:rPr>
              <a:t>ďalšie bezpečnostné vrstvy pri citlivých údajoch</a:t>
            </a:r>
          </a:p>
        </p:txBody>
      </p:sp>
    </p:spTree>
    <p:extLst>
      <p:ext uri="{BB962C8B-B14F-4D97-AF65-F5344CB8AC3E}">
        <p14:creationId xmlns:p14="http://schemas.microsoft.com/office/powerpoint/2010/main" val="1773840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ál 1">
            <a:extLst>
              <a:ext uri="{FF2B5EF4-FFF2-40B4-BE49-F238E27FC236}">
                <a16:creationId xmlns:a16="http://schemas.microsoft.com/office/drawing/2014/main" id="{1C02E7C0-EDD2-46B4-86BD-7EB6C9BD8327}"/>
              </a:ext>
            </a:extLst>
          </p:cNvPr>
          <p:cNvSpPr>
            <a:spLocks noGrp="1"/>
          </p:cNvSpPr>
          <p:nvPr/>
        </p:nvSpPr>
        <p:spPr>
          <a:xfrm>
            <a:off x="-762000" y="-1143000"/>
            <a:ext cx="4000500" cy="4000500"/>
          </a:xfrm>
          <a:prstGeom prst="ellipse">
            <a:avLst/>
          </a:prstGeom>
          <a:solidFill>
            <a:srgbClr val="57A8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2BB4B1F4-D7EB-439D-A615-5DEC2CD34DAC}"/>
              </a:ext>
            </a:extLst>
          </p:cNvPr>
          <p:cNvSpPr>
            <a:spLocks noGrp="1"/>
          </p:cNvSpPr>
          <p:nvPr/>
        </p:nvSpPr>
        <p:spPr>
          <a:xfrm>
            <a:off x="9144000" y="-1047750"/>
            <a:ext cx="3429000" cy="3429000"/>
          </a:xfrm>
          <a:prstGeom prst="ellipse">
            <a:avLst/>
          </a:prstGeom>
          <a:solidFill>
            <a:srgbClr val="7FE0BE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1E47DAAB-0918-4CF1-A3EE-D01253412443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3238500" cy="2095500"/>
          </a:xfrm>
          <a:prstGeom prst="ellipse">
            <a:avLst/>
          </a:prstGeom>
          <a:solidFill>
            <a:srgbClr val="57A8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5" name="Obdĺžnik 4">
            <a:extLst>
              <a:ext uri="{FF2B5EF4-FFF2-40B4-BE49-F238E27FC236}">
                <a16:creationId xmlns:a16="http://schemas.microsoft.com/office/drawing/2014/main" id="{9F9926AD-F485-4B18-BB35-9EBA10AF302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FE0BE"/>
                </a:solidFill>
              </a:defRPr>
            </a:pPr>
            <a:r>
              <a:rPr lang="sk-SK" sz="975" b="1" noProof="0" dirty="0">
                <a:solidFill>
                  <a:srgbClr val="7FE0BE"/>
                </a:solidFill>
              </a:rPr>
              <a:t>TUNEL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01D067B4-29E6-46DD-A586-1498C077E7D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2550" b="1" noProof="0" dirty="0">
                <a:solidFill>
                  <a:srgbClr val="EDF5FF"/>
                </a:solidFill>
              </a:rPr>
              <a:t>Od prezentačnej stránky po stiahnutie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EA3262C2-BC49-4958-84F7-A605A7FC0E4E}"/>
              </a:ext>
            </a:extLst>
          </p:cNvPr>
          <p:cNvSpPr>
            <a:spLocks noGrp="1"/>
          </p:cNvSpPr>
          <p:nvPr/>
        </p:nvSpPr>
        <p:spPr>
          <a:xfrm>
            <a:off x="742950" y="1852083"/>
            <a:ext cx="2324100" cy="3467100"/>
          </a:xfrm>
          <a:prstGeom prst="roundRect">
            <a:avLst>
              <a:gd name="adj" fmla="val 3279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C9829765-D8DA-4E7B-8C08-20984D5C3A14}"/>
              </a:ext>
            </a:extLst>
          </p:cNvPr>
          <p:cNvSpPr>
            <a:spLocks noGrp="1"/>
          </p:cNvSpPr>
          <p:nvPr/>
        </p:nvSpPr>
        <p:spPr>
          <a:xfrm>
            <a:off x="742950" y="1852083"/>
            <a:ext cx="76200" cy="34671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0F3463B7-7779-4D1E-AE95-2FE6B2F7D853}"/>
              </a:ext>
            </a:extLst>
          </p:cNvPr>
          <p:cNvSpPr>
            <a:spLocks noGrp="1"/>
          </p:cNvSpPr>
          <p:nvPr/>
        </p:nvSpPr>
        <p:spPr>
          <a:xfrm>
            <a:off x="914400" y="2061633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DF5FF"/>
                </a:solidFill>
              </a:defRPr>
            </a:pPr>
            <a:r>
              <a:rPr lang="sk-SK" sz="1350" b="1" noProof="0" dirty="0">
                <a:solidFill>
                  <a:srgbClr val="EDF5FF"/>
                </a:solidFill>
              </a:rPr>
              <a:t>1. </a:t>
            </a:r>
            <a:r>
              <a:rPr lang="sk-SK" sz="1350" b="1" noProof="0" dirty="0" err="1">
                <a:solidFill>
                  <a:srgbClr val="EDF5FF"/>
                </a:solidFill>
              </a:rPr>
              <a:t>GitHub</a:t>
            </a:r>
            <a:r>
              <a:rPr lang="sk-SK" sz="1350" b="1" noProof="0" dirty="0">
                <a:solidFill>
                  <a:srgbClr val="EDF5FF"/>
                </a:solidFill>
              </a:rPr>
              <a:t> </a:t>
            </a:r>
            <a:r>
              <a:rPr lang="sk-SK" sz="1350" b="1" noProof="0" dirty="0" err="1">
                <a:solidFill>
                  <a:srgbClr val="EDF5FF"/>
                </a:solidFill>
              </a:rPr>
              <a:t>Page</a:t>
            </a:r>
            <a:endParaRPr lang="sk-SK" sz="1350" b="1" noProof="0" dirty="0">
              <a:solidFill>
                <a:srgbClr val="EDF5FF"/>
              </a:solidFill>
            </a:endParaRPr>
          </a:p>
        </p:txBody>
      </p:sp>
      <p:sp>
        <p:nvSpPr>
          <p:cNvPr id="11" name="Obdĺžnik: zaoblené rohy 10">
            <a:extLst>
              <a:ext uri="{FF2B5EF4-FFF2-40B4-BE49-F238E27FC236}">
                <a16:creationId xmlns:a16="http://schemas.microsoft.com/office/drawing/2014/main" id="{39BFCD37-0CD2-41A9-BFC5-B1E9FC8E816E}"/>
              </a:ext>
            </a:extLst>
          </p:cNvPr>
          <p:cNvSpPr>
            <a:spLocks noGrp="1"/>
          </p:cNvSpPr>
          <p:nvPr/>
        </p:nvSpPr>
        <p:spPr>
          <a:xfrm>
            <a:off x="895350" y="2461683"/>
            <a:ext cx="2019300" cy="15240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9525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3BFC20DC-575B-4A54-A463-2E0B0F42274D}"/>
              </a:ext>
            </a:extLst>
          </p:cNvPr>
          <p:cNvSpPr>
            <a:spLocks noGrp="1"/>
          </p:cNvSpPr>
          <p:nvPr/>
        </p:nvSpPr>
        <p:spPr>
          <a:xfrm>
            <a:off x="971550" y="2575983"/>
            <a:ext cx="1866900" cy="1295400"/>
          </a:xfrm>
          <a:prstGeom prst="roundRect">
            <a:avLst>
              <a:gd name="adj" fmla="val 5882"/>
            </a:avLst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3" name="Obdĺžnik 12">
            <a:extLst>
              <a:ext uri="{FF2B5EF4-FFF2-40B4-BE49-F238E27FC236}">
                <a16:creationId xmlns:a16="http://schemas.microsoft.com/office/drawing/2014/main" id="{095CE9F0-0EA8-4C18-A47A-625AF61AA91B}"/>
              </a:ext>
            </a:extLst>
          </p:cNvPr>
          <p:cNvSpPr>
            <a:spLocks noGrp="1"/>
          </p:cNvSpPr>
          <p:nvPr/>
        </p:nvSpPr>
        <p:spPr>
          <a:xfrm>
            <a:off x="971550" y="2575983"/>
            <a:ext cx="1866900" cy="190500"/>
          </a:xfrm>
          <a:prstGeom prst="rect">
            <a:avLst/>
          </a:prstGeom>
          <a:solidFill>
            <a:srgbClr val="E5EE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4" name="Ovál 13">
            <a:extLst>
              <a:ext uri="{FF2B5EF4-FFF2-40B4-BE49-F238E27FC236}">
                <a16:creationId xmlns:a16="http://schemas.microsoft.com/office/drawing/2014/main" id="{F160D105-66E0-40D4-8DB8-519BD0A154B7}"/>
              </a:ext>
            </a:extLst>
          </p:cNvPr>
          <p:cNvSpPr>
            <a:spLocks noGrp="1"/>
          </p:cNvSpPr>
          <p:nvPr/>
        </p:nvSpPr>
        <p:spPr>
          <a:xfrm>
            <a:off x="1066800" y="2633133"/>
            <a:ext cx="76200" cy="76200"/>
          </a:xfrm>
          <a:prstGeom prst="ellipse">
            <a:avLst/>
          </a:prstGeom>
          <a:solidFill>
            <a:srgbClr val="FF8B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5" name="Ovál 14">
            <a:extLst>
              <a:ext uri="{FF2B5EF4-FFF2-40B4-BE49-F238E27FC236}">
                <a16:creationId xmlns:a16="http://schemas.microsoft.com/office/drawing/2014/main" id="{63B8D3EE-3B06-4207-A97B-51DB585CC0D5}"/>
              </a:ext>
            </a:extLst>
          </p:cNvPr>
          <p:cNvSpPr>
            <a:spLocks noGrp="1"/>
          </p:cNvSpPr>
          <p:nvPr/>
        </p:nvSpPr>
        <p:spPr>
          <a:xfrm>
            <a:off x="1200150" y="2633133"/>
            <a:ext cx="76200" cy="76200"/>
          </a:xfrm>
          <a:prstGeom prst="ellipse">
            <a:avLst/>
          </a:prstGeom>
          <a:solidFill>
            <a:srgbClr val="FFD1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6" name="Ovál 15">
            <a:extLst>
              <a:ext uri="{FF2B5EF4-FFF2-40B4-BE49-F238E27FC236}">
                <a16:creationId xmlns:a16="http://schemas.microsoft.com/office/drawing/2014/main" id="{3B20B075-8349-4B06-B986-A89A1EC140B8}"/>
              </a:ext>
            </a:extLst>
          </p:cNvPr>
          <p:cNvSpPr>
            <a:spLocks noGrp="1"/>
          </p:cNvSpPr>
          <p:nvPr/>
        </p:nvSpPr>
        <p:spPr>
          <a:xfrm>
            <a:off x="1333500" y="2633133"/>
            <a:ext cx="76200" cy="76200"/>
          </a:xfrm>
          <a:prstGeom prst="ellipse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pic>
        <p:nvPicPr>
          <p:cNvPr id="17" name="Obrázok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3105" y="2861733"/>
            <a:ext cx="1043739" cy="285750"/>
          </a:xfrm>
          <a:prstGeom prst="rect">
            <a:avLst/>
          </a:prstGeom>
        </p:spPr>
      </p:pic>
      <p:sp>
        <p:nvSpPr>
          <p:cNvPr id="18" name="Obdĺžnik 17">
            <a:extLst>
              <a:ext uri="{FF2B5EF4-FFF2-40B4-BE49-F238E27FC236}">
                <a16:creationId xmlns:a16="http://schemas.microsoft.com/office/drawing/2014/main" id="{3437D960-4D66-4F53-83CD-7B69A1B62D0D}"/>
              </a:ext>
            </a:extLst>
          </p:cNvPr>
          <p:cNvSpPr>
            <a:spLocks noGrp="1"/>
          </p:cNvSpPr>
          <p:nvPr/>
        </p:nvSpPr>
        <p:spPr>
          <a:xfrm>
            <a:off x="1104900" y="3223683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420" lnSpcReduction="10000"/>
          </a:bodyPr>
          <a:lstStyle/>
          <a:p>
            <a:pPr algn="l">
              <a:defRPr sz="975" b="1">
                <a:solidFill>
                  <a:srgbClr val="06101B"/>
                </a:solidFill>
              </a:defRPr>
            </a:pPr>
            <a:r>
              <a:rPr lang="sk-SK" sz="975" b="1" noProof="0" dirty="0">
                <a:solidFill>
                  <a:srgbClr val="06101B"/>
                </a:solidFill>
              </a:rPr>
              <a:t>Automatické vypĺňanie formulárov</a:t>
            </a:r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BB1089CE-7528-48C4-B208-7C114B8A87DC}"/>
              </a:ext>
            </a:extLst>
          </p:cNvPr>
          <p:cNvSpPr>
            <a:spLocks noGrp="1"/>
          </p:cNvSpPr>
          <p:nvPr/>
        </p:nvSpPr>
        <p:spPr>
          <a:xfrm>
            <a:off x="1104900" y="3509433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42566F"/>
                </a:solidFill>
              </a:defRPr>
            </a:pPr>
            <a:r>
              <a:rPr lang="sk-SK" sz="825" b="0" noProof="0" dirty="0">
                <a:solidFill>
                  <a:srgbClr val="42566F"/>
                </a:solidFill>
              </a:rPr>
              <a:t>funkcie • </a:t>
            </a:r>
            <a:r>
              <a:rPr lang="sk-SK" sz="825" b="0" noProof="0" dirty="0" err="1">
                <a:solidFill>
                  <a:srgbClr val="42566F"/>
                </a:solidFill>
              </a:rPr>
              <a:t>screenshoty</a:t>
            </a:r>
            <a:r>
              <a:rPr lang="sk-SK" sz="825" b="0" noProof="0" dirty="0">
                <a:solidFill>
                  <a:srgbClr val="42566F"/>
                </a:solidFill>
              </a:rPr>
              <a:t> • návod</a:t>
            </a: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CC2B7695-C85A-4284-B14C-7C66D8FECA83}"/>
              </a:ext>
            </a:extLst>
          </p:cNvPr>
          <p:cNvSpPr>
            <a:spLocks noGrp="1"/>
          </p:cNvSpPr>
          <p:nvPr/>
        </p:nvSpPr>
        <p:spPr>
          <a:xfrm>
            <a:off x="2190750" y="3185583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E408F5F5-4461-47F8-9495-61DA8DECB2C1}"/>
              </a:ext>
            </a:extLst>
          </p:cNvPr>
          <p:cNvSpPr>
            <a:spLocks noGrp="1"/>
          </p:cNvSpPr>
          <p:nvPr/>
        </p:nvSpPr>
        <p:spPr>
          <a:xfrm>
            <a:off x="2266950" y="3309408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lang="sk-SK" sz="900" b="1" noProof="0" dirty="0">
                <a:solidFill>
                  <a:srgbClr val="FFFFFF"/>
                </a:solidFill>
              </a:rPr>
              <a:t>ZIP</a:t>
            </a:r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9BB7693B-A4F8-4E8C-BEDB-CD3B9E025955}"/>
              </a:ext>
            </a:extLst>
          </p:cNvPr>
          <p:cNvSpPr>
            <a:spLocks noGrp="1"/>
          </p:cNvSpPr>
          <p:nvPr/>
        </p:nvSpPr>
        <p:spPr>
          <a:xfrm>
            <a:off x="914400" y="4214283"/>
            <a:ext cx="19431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Pútavá prezentačná stránka vysvetľuje hodnotu produktu, funkcie aj inštaláciu.</a:t>
            </a:r>
          </a:p>
        </p:txBody>
      </p:sp>
      <p:sp>
        <p:nvSpPr>
          <p:cNvPr id="23" name="Obdĺžnik 22">
            <a:extLst>
              <a:ext uri="{FF2B5EF4-FFF2-40B4-BE49-F238E27FC236}">
                <a16:creationId xmlns:a16="http://schemas.microsoft.com/office/drawing/2014/main" id="{924CC416-B06E-4EC1-9A13-A180929E09A5}"/>
              </a:ext>
            </a:extLst>
          </p:cNvPr>
          <p:cNvSpPr>
            <a:spLocks noGrp="1"/>
          </p:cNvSpPr>
          <p:nvPr/>
        </p:nvSpPr>
        <p:spPr>
          <a:xfrm>
            <a:off x="3067050" y="3414183"/>
            <a:ext cx="438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86C0FF"/>
                </a:solidFill>
              </a:defRPr>
            </a:pPr>
            <a:r>
              <a:rPr lang="sk-SK" sz="2100" b="1" noProof="0" dirty="0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24" name="Obdĺžnik: zaoblené rohy 23">
            <a:extLst>
              <a:ext uri="{FF2B5EF4-FFF2-40B4-BE49-F238E27FC236}">
                <a16:creationId xmlns:a16="http://schemas.microsoft.com/office/drawing/2014/main" id="{1BF979D2-62F0-4BFC-BF1D-ED88046BB036}"/>
              </a:ext>
            </a:extLst>
          </p:cNvPr>
          <p:cNvSpPr>
            <a:spLocks noGrp="1"/>
          </p:cNvSpPr>
          <p:nvPr/>
        </p:nvSpPr>
        <p:spPr>
          <a:xfrm>
            <a:off x="3543300" y="1852083"/>
            <a:ext cx="2324100" cy="3467100"/>
          </a:xfrm>
          <a:prstGeom prst="roundRect">
            <a:avLst>
              <a:gd name="adj" fmla="val 3279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5" name="Obdĺžnik 24">
            <a:extLst>
              <a:ext uri="{FF2B5EF4-FFF2-40B4-BE49-F238E27FC236}">
                <a16:creationId xmlns:a16="http://schemas.microsoft.com/office/drawing/2014/main" id="{0845A55E-0EE3-434B-8D9A-BE5B06143AEE}"/>
              </a:ext>
            </a:extLst>
          </p:cNvPr>
          <p:cNvSpPr>
            <a:spLocks noGrp="1"/>
          </p:cNvSpPr>
          <p:nvPr/>
        </p:nvSpPr>
        <p:spPr>
          <a:xfrm>
            <a:off x="3543300" y="1852083"/>
            <a:ext cx="76200" cy="34671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6" name="Obdĺžnik 25">
            <a:extLst>
              <a:ext uri="{FF2B5EF4-FFF2-40B4-BE49-F238E27FC236}">
                <a16:creationId xmlns:a16="http://schemas.microsoft.com/office/drawing/2014/main" id="{84B2E9C9-2E27-4798-8362-67DCDECBEFE2}"/>
              </a:ext>
            </a:extLst>
          </p:cNvPr>
          <p:cNvSpPr>
            <a:spLocks noGrp="1"/>
          </p:cNvSpPr>
          <p:nvPr/>
        </p:nvSpPr>
        <p:spPr>
          <a:xfrm>
            <a:off x="3714750" y="2061633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DF5FF"/>
                </a:solidFill>
              </a:defRPr>
            </a:pPr>
            <a:r>
              <a:rPr lang="sk-SK" sz="1350" b="1" noProof="0" dirty="0">
                <a:solidFill>
                  <a:srgbClr val="EDF5FF"/>
                </a:solidFill>
              </a:rPr>
              <a:t>2. Stiahnuť ZIP</a:t>
            </a:r>
          </a:p>
        </p:txBody>
      </p:sp>
      <p:sp>
        <p:nvSpPr>
          <p:cNvPr id="27" name="Obdĺžnik: zaoblené rohy 26">
            <a:extLst>
              <a:ext uri="{FF2B5EF4-FFF2-40B4-BE49-F238E27FC236}">
                <a16:creationId xmlns:a16="http://schemas.microsoft.com/office/drawing/2014/main" id="{7CE57317-A200-40FB-8053-01C01C24A0C2}"/>
              </a:ext>
            </a:extLst>
          </p:cNvPr>
          <p:cNvSpPr>
            <a:spLocks noGrp="1"/>
          </p:cNvSpPr>
          <p:nvPr/>
        </p:nvSpPr>
        <p:spPr>
          <a:xfrm>
            <a:off x="3695700" y="2461683"/>
            <a:ext cx="2019300" cy="15240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9525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8" name="Obdĺžnik: zaoblené rohy 27">
            <a:extLst>
              <a:ext uri="{FF2B5EF4-FFF2-40B4-BE49-F238E27FC236}">
                <a16:creationId xmlns:a16="http://schemas.microsoft.com/office/drawing/2014/main" id="{B08B8183-A700-47F7-9C0C-9D29D3BAD467}"/>
              </a:ext>
            </a:extLst>
          </p:cNvPr>
          <p:cNvSpPr>
            <a:spLocks noGrp="1"/>
          </p:cNvSpPr>
          <p:nvPr/>
        </p:nvSpPr>
        <p:spPr>
          <a:xfrm>
            <a:off x="4000500" y="2690283"/>
            <a:ext cx="819150" cy="1028700"/>
          </a:xfrm>
          <a:prstGeom prst="roundRect">
            <a:avLst>
              <a:gd name="adj" fmla="val 9302"/>
            </a:avLst>
          </a:prstGeom>
          <a:solidFill>
            <a:srgbClr val="F5F9FF"/>
          </a:solidFill>
          <a:ln w="9525">
            <a:solidFill>
              <a:srgbClr val="D8E5F5"/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9" name="Obdĺžnik 28">
            <a:extLst>
              <a:ext uri="{FF2B5EF4-FFF2-40B4-BE49-F238E27FC236}">
                <a16:creationId xmlns:a16="http://schemas.microsoft.com/office/drawing/2014/main" id="{6DDC8121-60BA-46C0-9765-C2275C6CAE3F}"/>
              </a:ext>
            </a:extLst>
          </p:cNvPr>
          <p:cNvSpPr>
            <a:spLocks noGrp="1"/>
          </p:cNvSpPr>
          <p:nvPr/>
        </p:nvSpPr>
        <p:spPr>
          <a:xfrm>
            <a:off x="4000500" y="2690283"/>
            <a:ext cx="819150" cy="209550"/>
          </a:xfrm>
          <a:prstGeom prst="rect">
            <a:avLst/>
          </a:prstGeom>
          <a:solidFill>
            <a:srgbClr val="DD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0" name="Obdĺžnik 29">
            <a:extLst>
              <a:ext uri="{FF2B5EF4-FFF2-40B4-BE49-F238E27FC236}">
                <a16:creationId xmlns:a16="http://schemas.microsoft.com/office/drawing/2014/main" id="{41086F5D-65CC-49EC-B966-6EA9C12E6380}"/>
              </a:ext>
            </a:extLst>
          </p:cNvPr>
          <p:cNvSpPr>
            <a:spLocks noGrp="1"/>
          </p:cNvSpPr>
          <p:nvPr/>
        </p:nvSpPr>
        <p:spPr>
          <a:xfrm>
            <a:off x="4191000" y="3052233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6101B"/>
                </a:solidFill>
              </a:defRPr>
            </a:pPr>
            <a:r>
              <a:rPr lang="sk-SK" sz="1350" b="1" noProof="0" dirty="0">
                <a:solidFill>
                  <a:srgbClr val="06101B"/>
                </a:solidFill>
              </a:rPr>
              <a:t>.</a:t>
            </a:r>
            <a:r>
              <a:rPr lang="sk-SK" sz="1350" b="1" noProof="0" dirty="0" err="1">
                <a:solidFill>
                  <a:srgbClr val="06101B"/>
                </a:solidFill>
              </a:rPr>
              <a:t>zip</a:t>
            </a:r>
            <a:endParaRPr lang="sk-SK" sz="1350" b="1" noProof="0" dirty="0">
              <a:solidFill>
                <a:srgbClr val="06101B"/>
              </a:solidFill>
            </a:endParaRPr>
          </a:p>
        </p:txBody>
      </p:sp>
      <p:sp>
        <p:nvSpPr>
          <p:cNvPr id="31" name="Obdĺžnik 30">
            <a:extLst>
              <a:ext uri="{FF2B5EF4-FFF2-40B4-BE49-F238E27FC236}">
                <a16:creationId xmlns:a16="http://schemas.microsoft.com/office/drawing/2014/main" id="{93C636BD-C7AD-42D6-B49F-CB5DAEEA8536}"/>
              </a:ext>
            </a:extLst>
          </p:cNvPr>
          <p:cNvSpPr>
            <a:spLocks noGrp="1"/>
          </p:cNvSpPr>
          <p:nvPr/>
        </p:nvSpPr>
        <p:spPr>
          <a:xfrm>
            <a:off x="4095750" y="3357033"/>
            <a:ext cx="628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1">
                <a:solidFill>
                  <a:srgbClr val="48617D"/>
                </a:solidFill>
              </a:defRPr>
            </a:pPr>
            <a:r>
              <a:rPr lang="sk-SK" sz="825" b="1" noProof="0" dirty="0" err="1">
                <a:solidFill>
                  <a:srgbClr val="48617D"/>
                </a:solidFill>
              </a:rPr>
              <a:t>FORMeGO</a:t>
            </a:r>
            <a:endParaRPr lang="sk-SK" sz="825" b="1" noProof="0" dirty="0">
              <a:solidFill>
                <a:srgbClr val="48617D"/>
              </a:solidFill>
            </a:endParaRPr>
          </a:p>
        </p:txBody>
      </p:sp>
      <p:sp>
        <p:nvSpPr>
          <p:cNvPr id="32" name="Ovál 31">
            <a:extLst>
              <a:ext uri="{FF2B5EF4-FFF2-40B4-BE49-F238E27FC236}">
                <a16:creationId xmlns:a16="http://schemas.microsoft.com/office/drawing/2014/main" id="{01D0B1D8-B578-427C-895F-82C5013E469E}"/>
              </a:ext>
            </a:extLst>
          </p:cNvPr>
          <p:cNvSpPr>
            <a:spLocks noGrp="1"/>
          </p:cNvSpPr>
          <p:nvPr/>
        </p:nvSpPr>
        <p:spPr>
          <a:xfrm>
            <a:off x="4991100" y="2918883"/>
            <a:ext cx="438150" cy="438150"/>
          </a:xfrm>
          <a:prstGeom prst="ellipse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3" name="Obdĺžnik 32">
            <a:extLst>
              <a:ext uri="{FF2B5EF4-FFF2-40B4-BE49-F238E27FC236}">
                <a16:creationId xmlns:a16="http://schemas.microsoft.com/office/drawing/2014/main" id="{68D7299C-E836-4787-8D7D-92CC1B514050}"/>
              </a:ext>
            </a:extLst>
          </p:cNvPr>
          <p:cNvSpPr>
            <a:spLocks noGrp="1"/>
          </p:cNvSpPr>
          <p:nvPr/>
        </p:nvSpPr>
        <p:spPr>
          <a:xfrm>
            <a:off x="5067300" y="2976033"/>
            <a:ext cx="28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573"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sk-SK" sz="1800" b="1" noProof="0" dirty="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34" name="Obdĺžnik 33">
            <a:extLst>
              <a:ext uri="{FF2B5EF4-FFF2-40B4-BE49-F238E27FC236}">
                <a16:creationId xmlns:a16="http://schemas.microsoft.com/office/drawing/2014/main" id="{5CD67B56-EA69-4A39-B6A7-60652F8CDCC1}"/>
              </a:ext>
            </a:extLst>
          </p:cNvPr>
          <p:cNvSpPr>
            <a:spLocks noGrp="1"/>
          </p:cNvSpPr>
          <p:nvPr/>
        </p:nvSpPr>
        <p:spPr>
          <a:xfrm>
            <a:off x="3867150" y="3738033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ABC0DE"/>
                </a:solidFill>
              </a:defRPr>
            </a:pPr>
            <a:r>
              <a:rPr lang="sk-SK" sz="825" b="0" noProof="0" dirty="0" err="1">
                <a:solidFill>
                  <a:srgbClr val="ABC0DE"/>
                </a:solidFill>
              </a:rPr>
              <a:t>Repo</a:t>
            </a:r>
            <a:r>
              <a:rPr lang="sk-SK" sz="825" b="0" noProof="0" dirty="0">
                <a:solidFill>
                  <a:srgbClr val="ABC0DE"/>
                </a:solidFill>
              </a:rPr>
              <a:t> → ZIP → stiahnuť</a:t>
            </a:r>
          </a:p>
        </p:txBody>
      </p:sp>
      <p:sp>
        <p:nvSpPr>
          <p:cNvPr id="35" name="Obdĺžnik 34">
            <a:extLst>
              <a:ext uri="{FF2B5EF4-FFF2-40B4-BE49-F238E27FC236}">
                <a16:creationId xmlns:a16="http://schemas.microsoft.com/office/drawing/2014/main" id="{709E223C-EA13-4BE1-B7BB-0C100D6C9693}"/>
              </a:ext>
            </a:extLst>
          </p:cNvPr>
          <p:cNvSpPr>
            <a:spLocks noGrp="1"/>
          </p:cNvSpPr>
          <p:nvPr/>
        </p:nvSpPr>
        <p:spPr>
          <a:xfrm>
            <a:off x="3714750" y="4214283"/>
            <a:ext cx="19431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QR </a:t>
            </a:r>
            <a:r>
              <a:rPr lang="sk-SK" sz="1200" b="0" noProof="0" dirty="0" err="1">
                <a:solidFill>
                  <a:srgbClr val="ABC0DE"/>
                </a:solidFill>
              </a:rPr>
              <a:t>code</a:t>
            </a:r>
            <a:r>
              <a:rPr lang="sk-SK" sz="1200" b="0" noProof="0" dirty="0">
                <a:solidFill>
                  <a:srgbClr val="ABC0DE"/>
                </a:solidFill>
              </a:rPr>
              <a:t> na repozitár alebo priamo na ZIP balík projektu.</a:t>
            </a:r>
          </a:p>
        </p:txBody>
      </p:sp>
      <p:sp>
        <p:nvSpPr>
          <p:cNvPr id="36" name="Obdĺžnik 35">
            <a:extLst>
              <a:ext uri="{FF2B5EF4-FFF2-40B4-BE49-F238E27FC236}">
                <a16:creationId xmlns:a16="http://schemas.microsoft.com/office/drawing/2014/main" id="{C15319B7-D9EE-4944-8F72-6B4F4576B5F0}"/>
              </a:ext>
            </a:extLst>
          </p:cNvPr>
          <p:cNvSpPr>
            <a:spLocks noGrp="1"/>
          </p:cNvSpPr>
          <p:nvPr/>
        </p:nvSpPr>
        <p:spPr>
          <a:xfrm>
            <a:off x="5867400" y="3414183"/>
            <a:ext cx="438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86C0FF"/>
                </a:solidFill>
              </a:defRPr>
            </a:pPr>
            <a:r>
              <a:rPr lang="sk-SK" sz="2100" b="1" noProof="0" dirty="0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37" name="Obdĺžnik: zaoblené rohy 36">
            <a:extLst>
              <a:ext uri="{FF2B5EF4-FFF2-40B4-BE49-F238E27FC236}">
                <a16:creationId xmlns:a16="http://schemas.microsoft.com/office/drawing/2014/main" id="{8FFAD01D-DD22-403E-8825-84F8DB7015B0}"/>
              </a:ext>
            </a:extLst>
          </p:cNvPr>
          <p:cNvSpPr>
            <a:spLocks noGrp="1"/>
          </p:cNvSpPr>
          <p:nvPr/>
        </p:nvSpPr>
        <p:spPr>
          <a:xfrm>
            <a:off x="6343650" y="1852083"/>
            <a:ext cx="2324100" cy="3467100"/>
          </a:xfrm>
          <a:prstGeom prst="roundRect">
            <a:avLst>
              <a:gd name="adj" fmla="val 3279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8" name="Obdĺžnik 37">
            <a:extLst>
              <a:ext uri="{FF2B5EF4-FFF2-40B4-BE49-F238E27FC236}">
                <a16:creationId xmlns:a16="http://schemas.microsoft.com/office/drawing/2014/main" id="{EF41D579-93BD-4FC5-B683-EF1870C1E876}"/>
              </a:ext>
            </a:extLst>
          </p:cNvPr>
          <p:cNvSpPr>
            <a:spLocks noGrp="1"/>
          </p:cNvSpPr>
          <p:nvPr/>
        </p:nvSpPr>
        <p:spPr>
          <a:xfrm>
            <a:off x="6343650" y="1852083"/>
            <a:ext cx="76200" cy="34671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9" name="Obdĺžnik 38">
            <a:extLst>
              <a:ext uri="{FF2B5EF4-FFF2-40B4-BE49-F238E27FC236}">
                <a16:creationId xmlns:a16="http://schemas.microsoft.com/office/drawing/2014/main" id="{7E3388AF-D71C-4274-B522-03A43FB49C95}"/>
              </a:ext>
            </a:extLst>
          </p:cNvPr>
          <p:cNvSpPr>
            <a:spLocks noGrp="1"/>
          </p:cNvSpPr>
          <p:nvPr/>
        </p:nvSpPr>
        <p:spPr>
          <a:xfrm>
            <a:off x="6515100" y="2061633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DF5FF"/>
                </a:solidFill>
              </a:defRPr>
            </a:pPr>
            <a:r>
              <a:rPr lang="sk-SK" sz="1350" b="1" noProof="0" dirty="0">
                <a:solidFill>
                  <a:srgbClr val="EDF5FF"/>
                </a:solidFill>
              </a:rPr>
              <a:t>3. </a:t>
            </a:r>
            <a:r>
              <a:rPr lang="sk-SK" sz="1350" b="1" noProof="0" dirty="0" err="1">
                <a:solidFill>
                  <a:srgbClr val="EDF5FF"/>
                </a:solidFill>
              </a:rPr>
              <a:t>Load</a:t>
            </a:r>
            <a:r>
              <a:rPr lang="sk-SK" sz="1350" b="1" noProof="0" dirty="0">
                <a:solidFill>
                  <a:srgbClr val="EDF5FF"/>
                </a:solidFill>
              </a:rPr>
              <a:t> </a:t>
            </a:r>
            <a:r>
              <a:rPr lang="sk-SK" sz="1350" b="1" noProof="0" dirty="0" err="1">
                <a:solidFill>
                  <a:srgbClr val="EDF5FF"/>
                </a:solidFill>
              </a:rPr>
              <a:t>unpacked</a:t>
            </a:r>
            <a:endParaRPr lang="sk-SK" sz="1350" b="1" noProof="0" dirty="0">
              <a:solidFill>
                <a:srgbClr val="EDF5FF"/>
              </a:solidFill>
            </a:endParaRPr>
          </a:p>
        </p:txBody>
      </p:sp>
      <p:sp>
        <p:nvSpPr>
          <p:cNvPr id="40" name="Obdĺžnik: zaoblené rohy 39">
            <a:extLst>
              <a:ext uri="{FF2B5EF4-FFF2-40B4-BE49-F238E27FC236}">
                <a16:creationId xmlns:a16="http://schemas.microsoft.com/office/drawing/2014/main" id="{D442981E-2CDE-4024-B9B5-33A93E3D8D8F}"/>
              </a:ext>
            </a:extLst>
          </p:cNvPr>
          <p:cNvSpPr>
            <a:spLocks noGrp="1"/>
          </p:cNvSpPr>
          <p:nvPr/>
        </p:nvSpPr>
        <p:spPr>
          <a:xfrm>
            <a:off x="6496050" y="2461683"/>
            <a:ext cx="2019300" cy="15240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9525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pic>
        <p:nvPicPr>
          <p:cNvPr id="41" name="Obrázok 40"/>
          <p:cNvPicPr>
            <a:picLocks noChangeAspect="1"/>
          </p:cNvPicPr>
          <p:nvPr/>
        </p:nvPicPr>
        <p:blipFill>
          <a:blip r:embed="rId4"/>
          <a:srcRect l="13210" r="13210"/>
          <a:stretch>
            <a:fillRect/>
          </a:stretch>
        </p:blipFill>
        <p:spPr>
          <a:xfrm>
            <a:off x="6572250" y="2537883"/>
            <a:ext cx="1866900" cy="1371600"/>
          </a:xfrm>
          <a:prstGeom prst="rect">
            <a:avLst/>
          </a:prstGeom>
        </p:spPr>
      </p:pic>
      <p:sp>
        <p:nvSpPr>
          <p:cNvPr id="42" name="Obdĺžnik 41">
            <a:extLst>
              <a:ext uri="{FF2B5EF4-FFF2-40B4-BE49-F238E27FC236}">
                <a16:creationId xmlns:a16="http://schemas.microsoft.com/office/drawing/2014/main" id="{6D20A43C-9785-4C9E-A574-C6EEC9E8D786}"/>
              </a:ext>
            </a:extLst>
          </p:cNvPr>
          <p:cNvSpPr>
            <a:spLocks noGrp="1"/>
          </p:cNvSpPr>
          <p:nvPr/>
        </p:nvSpPr>
        <p:spPr>
          <a:xfrm>
            <a:off x="6515100" y="4214283"/>
            <a:ext cx="19431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Používateľ otvorí chrome://extensions a načíta priečinok </a:t>
            </a:r>
            <a:r>
              <a:rPr lang="sk-SK" sz="1200" b="0" noProof="0" dirty="0" err="1">
                <a:solidFill>
                  <a:srgbClr val="ABC0DE"/>
                </a:solidFill>
              </a:rPr>
              <a:t>autofill-profiles</a:t>
            </a:r>
            <a:r>
              <a:rPr lang="sk-SK" sz="1200" b="0" noProof="0" dirty="0">
                <a:solidFill>
                  <a:srgbClr val="ABC0DE"/>
                </a:solidFill>
              </a:rPr>
              <a:t>.</a:t>
            </a:r>
          </a:p>
        </p:txBody>
      </p:sp>
      <p:sp>
        <p:nvSpPr>
          <p:cNvPr id="43" name="Obdĺžnik 42">
            <a:extLst>
              <a:ext uri="{FF2B5EF4-FFF2-40B4-BE49-F238E27FC236}">
                <a16:creationId xmlns:a16="http://schemas.microsoft.com/office/drawing/2014/main" id="{37E4E01F-7F68-444E-9DEE-793C8761FD77}"/>
              </a:ext>
            </a:extLst>
          </p:cNvPr>
          <p:cNvSpPr>
            <a:spLocks noGrp="1"/>
          </p:cNvSpPr>
          <p:nvPr/>
        </p:nvSpPr>
        <p:spPr>
          <a:xfrm>
            <a:off x="8667750" y="3414183"/>
            <a:ext cx="438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86C0FF"/>
                </a:solidFill>
              </a:defRPr>
            </a:pPr>
            <a:r>
              <a:rPr lang="sk-SK" sz="2100" b="1" noProof="0" dirty="0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44" name="Obdĺžnik: zaoblené rohy 43">
            <a:extLst>
              <a:ext uri="{FF2B5EF4-FFF2-40B4-BE49-F238E27FC236}">
                <a16:creationId xmlns:a16="http://schemas.microsoft.com/office/drawing/2014/main" id="{F2309978-E128-4970-ABD2-D0B066DBE086}"/>
              </a:ext>
            </a:extLst>
          </p:cNvPr>
          <p:cNvSpPr>
            <a:spLocks noGrp="1"/>
          </p:cNvSpPr>
          <p:nvPr/>
        </p:nvSpPr>
        <p:spPr>
          <a:xfrm>
            <a:off x="9144000" y="1852083"/>
            <a:ext cx="2324100" cy="3467100"/>
          </a:xfrm>
          <a:prstGeom prst="roundRect">
            <a:avLst>
              <a:gd name="adj" fmla="val 3279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5" name="Obdĺžnik 44">
            <a:extLst>
              <a:ext uri="{FF2B5EF4-FFF2-40B4-BE49-F238E27FC236}">
                <a16:creationId xmlns:a16="http://schemas.microsoft.com/office/drawing/2014/main" id="{CF76713A-55D5-4FB4-9C97-BC7A155F603C}"/>
              </a:ext>
            </a:extLst>
          </p:cNvPr>
          <p:cNvSpPr>
            <a:spLocks noGrp="1"/>
          </p:cNvSpPr>
          <p:nvPr/>
        </p:nvSpPr>
        <p:spPr>
          <a:xfrm>
            <a:off x="9144000" y="1852083"/>
            <a:ext cx="76200" cy="34671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6" name="Obdĺžnik 45">
            <a:extLst>
              <a:ext uri="{FF2B5EF4-FFF2-40B4-BE49-F238E27FC236}">
                <a16:creationId xmlns:a16="http://schemas.microsoft.com/office/drawing/2014/main" id="{F816EF8E-1B04-4D01-AD95-8A9464258CB3}"/>
              </a:ext>
            </a:extLst>
          </p:cNvPr>
          <p:cNvSpPr>
            <a:spLocks noGrp="1"/>
          </p:cNvSpPr>
          <p:nvPr/>
        </p:nvSpPr>
        <p:spPr>
          <a:xfrm>
            <a:off x="9315450" y="2061633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DF5FF"/>
                </a:solidFill>
              </a:defRPr>
            </a:pPr>
            <a:r>
              <a:rPr lang="sk-SK" sz="1350" b="1" noProof="0" dirty="0">
                <a:solidFill>
                  <a:srgbClr val="EDF5FF"/>
                </a:solidFill>
              </a:rPr>
              <a:t>4. Rozšírenie pripravené</a:t>
            </a:r>
          </a:p>
        </p:txBody>
      </p:sp>
      <p:sp>
        <p:nvSpPr>
          <p:cNvPr id="47" name="Obdĺžnik: zaoblené rohy 46">
            <a:extLst>
              <a:ext uri="{FF2B5EF4-FFF2-40B4-BE49-F238E27FC236}">
                <a16:creationId xmlns:a16="http://schemas.microsoft.com/office/drawing/2014/main" id="{21777DD9-63F0-4975-AD02-A5C667A33875}"/>
              </a:ext>
            </a:extLst>
          </p:cNvPr>
          <p:cNvSpPr>
            <a:spLocks noGrp="1"/>
          </p:cNvSpPr>
          <p:nvPr/>
        </p:nvSpPr>
        <p:spPr>
          <a:xfrm>
            <a:off x="9296400" y="2461683"/>
            <a:ext cx="2019300" cy="15240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9525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pic>
        <p:nvPicPr>
          <p:cNvPr id="48" name="Obrázok 47"/>
          <p:cNvPicPr>
            <a:picLocks noChangeAspect="1"/>
          </p:cNvPicPr>
          <p:nvPr/>
        </p:nvPicPr>
        <p:blipFill>
          <a:blip r:embed="rId5"/>
          <a:srcRect t="19154" b="19154"/>
          <a:stretch>
            <a:fillRect/>
          </a:stretch>
        </p:blipFill>
        <p:spPr>
          <a:xfrm>
            <a:off x="9372600" y="2537883"/>
            <a:ext cx="1866900" cy="1371600"/>
          </a:xfrm>
          <a:prstGeom prst="rect">
            <a:avLst/>
          </a:prstGeom>
        </p:spPr>
      </p:pic>
      <p:sp>
        <p:nvSpPr>
          <p:cNvPr id="49" name="Obdĺžnik 48">
            <a:extLst>
              <a:ext uri="{FF2B5EF4-FFF2-40B4-BE49-F238E27FC236}">
                <a16:creationId xmlns:a16="http://schemas.microsoft.com/office/drawing/2014/main" id="{3F106A04-3058-4FE8-8258-39DAA27408B3}"/>
              </a:ext>
            </a:extLst>
          </p:cNvPr>
          <p:cNvSpPr>
            <a:spLocks noGrp="1"/>
          </p:cNvSpPr>
          <p:nvPr/>
        </p:nvSpPr>
        <p:spPr>
          <a:xfrm>
            <a:off x="9315450" y="4214283"/>
            <a:ext cx="19431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Po </a:t>
            </a:r>
            <a:r>
              <a:rPr lang="sk-SK" sz="1200" b="0" noProof="0" dirty="0" err="1">
                <a:solidFill>
                  <a:srgbClr val="ABC0DE"/>
                </a:solidFill>
              </a:rPr>
              <a:t>focusnutí</a:t>
            </a:r>
            <a:r>
              <a:rPr lang="sk-SK" sz="1200" b="0" noProof="0" dirty="0">
                <a:solidFill>
                  <a:srgbClr val="ABC0DE"/>
                </a:solidFill>
              </a:rPr>
              <a:t> formulára sa zobrazí </a:t>
            </a:r>
            <a:r>
              <a:rPr lang="sk-SK" sz="1200" b="0" noProof="0" dirty="0" err="1">
                <a:solidFill>
                  <a:srgbClr val="ABC0DE"/>
                </a:solidFill>
              </a:rPr>
              <a:t>popover</a:t>
            </a:r>
            <a:r>
              <a:rPr lang="sk-SK" sz="1200" b="0" noProof="0" dirty="0">
                <a:solidFill>
                  <a:srgbClr val="ABC0DE"/>
                </a:solidFill>
              </a:rPr>
              <a:t> a profil vie doplniť údaje.</a:t>
            </a:r>
          </a:p>
        </p:txBody>
      </p:sp>
    </p:spTree>
    <p:extLst>
      <p:ext uri="{BB962C8B-B14F-4D97-AF65-F5344CB8AC3E}">
        <p14:creationId xmlns:p14="http://schemas.microsoft.com/office/powerpoint/2010/main" val="512191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ál 1">
            <a:extLst>
              <a:ext uri="{FF2B5EF4-FFF2-40B4-BE49-F238E27FC236}">
                <a16:creationId xmlns:a16="http://schemas.microsoft.com/office/drawing/2014/main" id="{133CC7CA-05EC-4EB9-AA65-340C91045C39}"/>
              </a:ext>
            </a:extLst>
          </p:cNvPr>
          <p:cNvSpPr>
            <a:spLocks noGrp="1"/>
          </p:cNvSpPr>
          <p:nvPr/>
        </p:nvSpPr>
        <p:spPr>
          <a:xfrm>
            <a:off x="-762000" y="-1143000"/>
            <a:ext cx="4000500" cy="4000500"/>
          </a:xfrm>
          <a:prstGeom prst="ellipse">
            <a:avLst/>
          </a:prstGeom>
          <a:solidFill>
            <a:srgbClr val="57A8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4F62D2C1-46AD-4ADC-B185-DD40A8B7415A}"/>
              </a:ext>
            </a:extLst>
          </p:cNvPr>
          <p:cNvSpPr>
            <a:spLocks noGrp="1"/>
          </p:cNvSpPr>
          <p:nvPr/>
        </p:nvSpPr>
        <p:spPr>
          <a:xfrm>
            <a:off x="9144000" y="-1047750"/>
            <a:ext cx="3429000" cy="3429000"/>
          </a:xfrm>
          <a:prstGeom prst="ellipse">
            <a:avLst/>
          </a:prstGeom>
          <a:solidFill>
            <a:srgbClr val="7FE0BE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BFF8AD20-99D7-4901-A5D5-FAD333A3B155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3238500" cy="2095500"/>
          </a:xfrm>
          <a:prstGeom prst="ellipse">
            <a:avLst/>
          </a:prstGeom>
          <a:solidFill>
            <a:srgbClr val="57A8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5" name="Obdĺžnik 4">
            <a:extLst>
              <a:ext uri="{FF2B5EF4-FFF2-40B4-BE49-F238E27FC236}">
                <a16:creationId xmlns:a16="http://schemas.microsoft.com/office/drawing/2014/main" id="{309486A8-6F7C-4E51-86E4-8FE5B7AC8C2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FE0BE"/>
                </a:solidFill>
              </a:defRPr>
            </a:pPr>
            <a:r>
              <a:rPr lang="sk-SK" sz="975" b="1" noProof="0" dirty="0">
                <a:solidFill>
                  <a:srgbClr val="7FE0BE"/>
                </a:solidFill>
              </a:rPr>
              <a:t>DEMO APLIKÁCIE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DE60BD75-CF3B-40D3-A3FA-143EB4BBEE9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3000" b="1" noProof="0" dirty="0">
                <a:solidFill>
                  <a:srgbClr val="EDF5FF"/>
                </a:solidFill>
              </a:rPr>
              <a:t>Ako </a:t>
            </a:r>
            <a:r>
              <a:rPr lang="sk-SK" sz="3000" b="1" noProof="0" dirty="0" err="1">
                <a:solidFill>
                  <a:srgbClr val="EDF5FF"/>
                </a:solidFill>
              </a:rPr>
              <a:t>FORMeGO</a:t>
            </a:r>
            <a:r>
              <a:rPr lang="sk-SK" sz="3000" b="1" noProof="0" dirty="0">
                <a:solidFill>
                  <a:srgbClr val="EDF5FF"/>
                </a:solidFill>
              </a:rPr>
              <a:t> vyzerá v praxi</a:t>
            </a: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0E11468E-3898-4046-933A-DFB7F60BDC76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BC0DE"/>
                </a:solidFill>
              </a:defRPr>
            </a:pPr>
            <a:r>
              <a:rPr lang="sk-SK" sz="1350" b="0" noProof="0" dirty="0">
                <a:solidFill>
                  <a:srgbClr val="ABC0DE"/>
                </a:solidFill>
              </a:rPr>
              <a:t>Rozšírenie stojí na dvoch pilieroch: správa profilov a rýchly výber pri formulári.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575B4FDF-851D-4892-9685-2A44A28299E8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5029200" cy="3194050"/>
          </a:xfrm>
          <a:prstGeom prst="roundRect">
            <a:avLst>
              <a:gd name="adj" fmla="val 1990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402AF7C7-6B8A-4B61-A61E-240443A9AA02}"/>
              </a:ext>
            </a:extLst>
          </p:cNvPr>
          <p:cNvSpPr>
            <a:spLocks noGrp="1"/>
          </p:cNvSpPr>
          <p:nvPr/>
        </p:nvSpPr>
        <p:spPr>
          <a:xfrm>
            <a:off x="685800" y="2590799"/>
            <a:ext cx="75110" cy="3194049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0E82BA95-4697-4C49-A56D-DFA144D10527}"/>
              </a:ext>
            </a:extLst>
          </p:cNvPr>
          <p:cNvSpPr>
            <a:spLocks noGrp="1"/>
          </p:cNvSpPr>
          <p:nvPr/>
        </p:nvSpPr>
        <p:spPr>
          <a:xfrm>
            <a:off x="1028699" y="2676786"/>
            <a:ext cx="3221568" cy="27596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1500" b="1">
                <a:solidFill>
                  <a:srgbClr val="EDF5FF"/>
                </a:solidFill>
              </a:defRPr>
            </a:pPr>
            <a:r>
              <a:rPr lang="sk-SK" sz="1500" b="1" noProof="0" dirty="0" err="1">
                <a:solidFill>
                  <a:srgbClr val="EDF5FF"/>
                </a:solidFill>
              </a:rPr>
              <a:t>Options</a:t>
            </a:r>
            <a:r>
              <a:rPr lang="sk-SK" sz="1500" b="1" noProof="0" dirty="0">
                <a:solidFill>
                  <a:srgbClr val="EDF5FF"/>
                </a:solidFill>
              </a:rPr>
              <a:t> stránka, bezpečne uzamknuté dáta</a:t>
            </a:r>
          </a:p>
        </p:txBody>
      </p:sp>
      <p:pic>
        <p:nvPicPr>
          <p:cNvPr id="12" name="Obrázok 11"/>
          <p:cNvPicPr>
            <a:picLocks noChangeAspect="1"/>
          </p:cNvPicPr>
          <p:nvPr/>
        </p:nvPicPr>
        <p:blipFill>
          <a:blip r:embed="rId3"/>
          <a:srcRect l="1445" t="3627" r="19997" b="8008"/>
          <a:stretch>
            <a:fillRect/>
          </a:stretch>
        </p:blipFill>
        <p:spPr>
          <a:xfrm>
            <a:off x="760910" y="2894179"/>
            <a:ext cx="4954090" cy="2890670"/>
          </a:xfrm>
          <a:prstGeom prst="rect">
            <a:avLst/>
          </a:prstGeom>
        </p:spPr>
      </p:pic>
      <p:sp>
        <p:nvSpPr>
          <p:cNvPr id="13" name="Obdĺžnik: zaoblené rohy 12">
            <a:extLst>
              <a:ext uri="{FF2B5EF4-FFF2-40B4-BE49-F238E27FC236}">
                <a16:creationId xmlns:a16="http://schemas.microsoft.com/office/drawing/2014/main" id="{166FC805-5DED-46A4-A118-0BC8A685E29F}"/>
              </a:ext>
            </a:extLst>
          </p:cNvPr>
          <p:cNvSpPr>
            <a:spLocks noGrp="1"/>
          </p:cNvSpPr>
          <p:nvPr/>
        </p:nvSpPr>
        <p:spPr>
          <a:xfrm>
            <a:off x="6384289" y="260898"/>
            <a:ext cx="5560060" cy="1731917"/>
          </a:xfrm>
          <a:prstGeom prst="roundRect">
            <a:avLst>
              <a:gd name="adj" fmla="val 6349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ED991FF1-58BB-4E92-A190-133FFF899AC4}"/>
              </a:ext>
            </a:extLst>
          </p:cNvPr>
          <p:cNvSpPr>
            <a:spLocks noGrp="1"/>
          </p:cNvSpPr>
          <p:nvPr/>
        </p:nvSpPr>
        <p:spPr>
          <a:xfrm>
            <a:off x="6327743" y="260898"/>
            <a:ext cx="140496" cy="1731917"/>
          </a:xfrm>
          <a:prstGeom prst="rect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pic>
        <p:nvPicPr>
          <p:cNvPr id="16" name="Obrázok 15"/>
          <p:cNvPicPr>
            <a:picLocks noChangeAspect="1"/>
          </p:cNvPicPr>
          <p:nvPr/>
        </p:nvPicPr>
        <p:blipFill>
          <a:blip r:embed="rId4"/>
          <a:srcRect t="19106" b="19106"/>
          <a:stretch>
            <a:fillRect/>
          </a:stretch>
        </p:blipFill>
        <p:spPr>
          <a:xfrm>
            <a:off x="6444904" y="262657"/>
            <a:ext cx="2354370" cy="1732457"/>
          </a:xfrm>
          <a:prstGeom prst="rect">
            <a:avLst/>
          </a:prstGeom>
        </p:spPr>
      </p:pic>
      <p:sp>
        <p:nvSpPr>
          <p:cNvPr id="17" name="Obdĺžnik 16">
            <a:extLst>
              <a:ext uri="{FF2B5EF4-FFF2-40B4-BE49-F238E27FC236}">
                <a16:creationId xmlns:a16="http://schemas.microsoft.com/office/drawing/2014/main" id="{2DD1CBFF-DDB4-4917-A7F5-AC8EACAEEAB7}"/>
              </a:ext>
            </a:extLst>
          </p:cNvPr>
          <p:cNvSpPr>
            <a:spLocks noGrp="1"/>
          </p:cNvSpPr>
          <p:nvPr/>
        </p:nvSpPr>
        <p:spPr>
          <a:xfrm>
            <a:off x="10123099" y="627855"/>
            <a:ext cx="1876330" cy="4066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DF5FF"/>
                </a:solidFill>
              </a:defRPr>
            </a:pPr>
            <a:r>
              <a:rPr lang="sk-SK" sz="1600" b="1" noProof="0" dirty="0" err="1">
                <a:solidFill>
                  <a:srgbClr val="EDF5FF"/>
                </a:solidFill>
              </a:rPr>
              <a:t>Vault</a:t>
            </a:r>
            <a:r>
              <a:rPr lang="sk-SK" sz="1600" b="1" noProof="0" dirty="0">
                <a:solidFill>
                  <a:srgbClr val="EDF5FF"/>
                </a:solidFill>
              </a:rPr>
              <a:t> </a:t>
            </a:r>
            <a:r>
              <a:rPr lang="sk-SK" sz="1600" b="1" noProof="0" dirty="0" err="1">
                <a:solidFill>
                  <a:srgbClr val="EDF5FF"/>
                </a:solidFill>
              </a:rPr>
              <a:t>unlock</a:t>
            </a:r>
            <a:endParaRPr lang="sk-SK" sz="1600" b="1" noProof="0" dirty="0">
              <a:solidFill>
                <a:srgbClr val="EDF5FF"/>
              </a:solidFill>
            </a:endParaRPr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BD7743C0-01AF-43E9-AFE0-02511AE64025}"/>
              </a:ext>
            </a:extLst>
          </p:cNvPr>
          <p:cNvSpPr>
            <a:spLocks noGrp="1"/>
          </p:cNvSpPr>
          <p:nvPr/>
        </p:nvSpPr>
        <p:spPr>
          <a:xfrm>
            <a:off x="10142151" y="1114870"/>
            <a:ext cx="1579603" cy="4281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Citlivé údaje sú chránené a profilový </a:t>
            </a:r>
            <a:r>
              <a:rPr lang="sk-SK" sz="1200" b="0" noProof="0" dirty="0" err="1">
                <a:solidFill>
                  <a:srgbClr val="ABC0DE"/>
                </a:solidFill>
              </a:rPr>
              <a:t>vault</a:t>
            </a:r>
            <a:r>
              <a:rPr lang="sk-SK" sz="1200" b="0" noProof="0" dirty="0">
                <a:solidFill>
                  <a:srgbClr val="ABC0DE"/>
                </a:solidFill>
              </a:rPr>
              <a:t> sa odomyká heslom.</a:t>
            </a: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98855C10-2390-40E6-B920-09AACDC9C62F}"/>
              </a:ext>
            </a:extLst>
          </p:cNvPr>
          <p:cNvSpPr>
            <a:spLocks noGrp="1"/>
          </p:cNvSpPr>
          <p:nvPr/>
        </p:nvSpPr>
        <p:spPr>
          <a:xfrm>
            <a:off x="6384289" y="2194987"/>
            <a:ext cx="5579110" cy="2043030"/>
          </a:xfrm>
          <a:prstGeom prst="roundRect">
            <a:avLst>
              <a:gd name="adj" fmla="val 6349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62C1A6C6-3E4F-4C86-B2E7-7C45737CC422}"/>
              </a:ext>
            </a:extLst>
          </p:cNvPr>
          <p:cNvSpPr>
            <a:spLocks noGrp="1"/>
          </p:cNvSpPr>
          <p:nvPr/>
        </p:nvSpPr>
        <p:spPr>
          <a:xfrm>
            <a:off x="6327742" y="2194987"/>
            <a:ext cx="140978" cy="2043030"/>
          </a:xfrm>
          <a:prstGeom prst="rect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pic>
        <p:nvPicPr>
          <p:cNvPr id="22" name="Obrázok 21"/>
          <p:cNvPicPr>
            <a:picLocks noChangeAspect="1"/>
          </p:cNvPicPr>
          <p:nvPr/>
        </p:nvPicPr>
        <p:blipFill>
          <a:blip r:embed="rId5"/>
          <a:srcRect l="1195" t="19358" r="3092" b="11894"/>
          <a:stretch>
            <a:fillRect/>
          </a:stretch>
        </p:blipFill>
        <p:spPr>
          <a:xfrm>
            <a:off x="6468239" y="2191086"/>
            <a:ext cx="3096885" cy="2046931"/>
          </a:xfrm>
          <a:prstGeom prst="rect">
            <a:avLst/>
          </a:prstGeom>
        </p:spPr>
      </p:pic>
      <p:sp>
        <p:nvSpPr>
          <p:cNvPr id="23" name="Obdĺžnik 22">
            <a:extLst>
              <a:ext uri="{FF2B5EF4-FFF2-40B4-BE49-F238E27FC236}">
                <a16:creationId xmlns:a16="http://schemas.microsoft.com/office/drawing/2014/main" id="{1CDD78B4-2F36-4703-B1FF-AB6435A1B359}"/>
              </a:ext>
            </a:extLst>
          </p:cNvPr>
          <p:cNvSpPr>
            <a:spLocks noGrp="1"/>
          </p:cNvSpPr>
          <p:nvPr/>
        </p:nvSpPr>
        <p:spPr>
          <a:xfrm>
            <a:off x="10127471" y="2700357"/>
            <a:ext cx="1876330" cy="4066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EDF5FF"/>
                </a:solidFill>
              </a:defRPr>
            </a:pPr>
            <a:r>
              <a:rPr lang="sk-SK" sz="1600" b="1" noProof="0" dirty="0">
                <a:solidFill>
                  <a:srgbClr val="EDF5FF"/>
                </a:solidFill>
              </a:rPr>
              <a:t>Editor sekcií</a:t>
            </a:r>
          </a:p>
        </p:txBody>
      </p:sp>
      <p:sp>
        <p:nvSpPr>
          <p:cNvPr id="24" name="Obdĺžnik 23">
            <a:extLst>
              <a:ext uri="{FF2B5EF4-FFF2-40B4-BE49-F238E27FC236}">
                <a16:creationId xmlns:a16="http://schemas.microsoft.com/office/drawing/2014/main" id="{39256AC6-6C11-485C-BD9B-93AB84056350}"/>
              </a:ext>
            </a:extLst>
          </p:cNvPr>
          <p:cNvSpPr>
            <a:spLocks noGrp="1"/>
          </p:cNvSpPr>
          <p:nvPr/>
        </p:nvSpPr>
        <p:spPr>
          <a:xfrm>
            <a:off x="10142152" y="3187580"/>
            <a:ext cx="1688682" cy="4281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Používateľ dopĺňa identitu, kontakt, adresu aj ďalšie údaje.</a:t>
            </a:r>
          </a:p>
        </p:txBody>
      </p:sp>
      <p:sp>
        <p:nvSpPr>
          <p:cNvPr id="25" name="Obdĺžnik: zaoblené rohy 24">
            <a:extLst>
              <a:ext uri="{FF2B5EF4-FFF2-40B4-BE49-F238E27FC236}">
                <a16:creationId xmlns:a16="http://schemas.microsoft.com/office/drawing/2014/main" id="{6E95A757-692F-41FF-A5C6-B57DEC38F316}"/>
              </a:ext>
            </a:extLst>
          </p:cNvPr>
          <p:cNvSpPr>
            <a:spLocks noGrp="1"/>
          </p:cNvSpPr>
          <p:nvPr/>
        </p:nvSpPr>
        <p:spPr>
          <a:xfrm>
            <a:off x="6384289" y="4381164"/>
            <a:ext cx="5579110" cy="2157730"/>
          </a:xfrm>
          <a:prstGeom prst="roundRect">
            <a:avLst>
              <a:gd name="adj" fmla="val 6349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6" name="Obdĺžnik 25">
            <a:extLst>
              <a:ext uri="{FF2B5EF4-FFF2-40B4-BE49-F238E27FC236}">
                <a16:creationId xmlns:a16="http://schemas.microsoft.com/office/drawing/2014/main" id="{DA71F7DA-BAFD-407C-AE23-692177940EEC}"/>
              </a:ext>
            </a:extLst>
          </p:cNvPr>
          <p:cNvSpPr>
            <a:spLocks noGrp="1"/>
          </p:cNvSpPr>
          <p:nvPr/>
        </p:nvSpPr>
        <p:spPr>
          <a:xfrm>
            <a:off x="6327742" y="4381164"/>
            <a:ext cx="140978" cy="2157730"/>
          </a:xfrm>
          <a:prstGeom prst="rect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pic>
        <p:nvPicPr>
          <p:cNvPr id="28" name="Obrázok 27"/>
          <p:cNvPicPr>
            <a:picLocks noChangeAspect="1"/>
          </p:cNvPicPr>
          <p:nvPr/>
        </p:nvPicPr>
        <p:blipFill>
          <a:blip r:embed="rId6"/>
          <a:srcRect l="1868" t="2579" r="3553" b="17887"/>
          <a:stretch>
            <a:fillRect/>
          </a:stretch>
        </p:blipFill>
        <p:spPr>
          <a:xfrm>
            <a:off x="6468239" y="4381165"/>
            <a:ext cx="3556230" cy="2157730"/>
          </a:xfrm>
          <a:prstGeom prst="rect">
            <a:avLst/>
          </a:prstGeom>
        </p:spPr>
      </p:pic>
      <p:sp>
        <p:nvSpPr>
          <p:cNvPr id="29" name="Obdĺžnik 28">
            <a:extLst>
              <a:ext uri="{FF2B5EF4-FFF2-40B4-BE49-F238E27FC236}">
                <a16:creationId xmlns:a16="http://schemas.microsoft.com/office/drawing/2014/main" id="{39036948-D7D5-41E9-A768-370B15DEDE5D}"/>
              </a:ext>
            </a:extLst>
          </p:cNvPr>
          <p:cNvSpPr>
            <a:spLocks noGrp="1"/>
          </p:cNvSpPr>
          <p:nvPr/>
        </p:nvSpPr>
        <p:spPr>
          <a:xfrm>
            <a:off x="10342099" y="4908110"/>
            <a:ext cx="1876330" cy="4066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DF5FF"/>
                </a:solidFill>
              </a:defRPr>
            </a:pPr>
            <a:r>
              <a:rPr lang="sk-SK" sz="1600" b="1" noProof="0" dirty="0">
                <a:solidFill>
                  <a:srgbClr val="EDF5FF"/>
                </a:solidFill>
              </a:rPr>
              <a:t>Osobné údaje</a:t>
            </a:r>
          </a:p>
        </p:txBody>
      </p:sp>
      <p:sp>
        <p:nvSpPr>
          <p:cNvPr id="30" name="Obdĺžnik 29">
            <a:extLst>
              <a:ext uri="{FF2B5EF4-FFF2-40B4-BE49-F238E27FC236}">
                <a16:creationId xmlns:a16="http://schemas.microsoft.com/office/drawing/2014/main" id="{A4E4D416-11F0-496B-BAF3-772EB43BB667}"/>
              </a:ext>
            </a:extLst>
          </p:cNvPr>
          <p:cNvSpPr>
            <a:spLocks noGrp="1"/>
          </p:cNvSpPr>
          <p:nvPr/>
        </p:nvSpPr>
        <p:spPr>
          <a:xfrm>
            <a:off x="10356779" y="5395333"/>
            <a:ext cx="1474055" cy="4281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ABC0DE"/>
                </a:solidFill>
              </a:defRPr>
            </a:pPr>
            <a:r>
              <a:rPr lang="sk-SK" sz="1400" b="0" noProof="0" dirty="0">
                <a:solidFill>
                  <a:srgbClr val="ABC0DE"/>
                </a:solidFill>
              </a:rPr>
              <a:t>Základné údaje o osobe</a:t>
            </a:r>
          </a:p>
        </p:txBody>
      </p:sp>
    </p:spTree>
    <p:extLst>
      <p:ext uri="{BB962C8B-B14F-4D97-AF65-F5344CB8AC3E}">
        <p14:creationId xmlns:p14="http://schemas.microsoft.com/office/powerpoint/2010/main" val="53532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C011C-DCBF-07CD-4DF7-386DCD15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ál 1">
            <a:extLst>
              <a:ext uri="{FF2B5EF4-FFF2-40B4-BE49-F238E27FC236}">
                <a16:creationId xmlns:a16="http://schemas.microsoft.com/office/drawing/2014/main" id="{4E1BA028-98C1-01CF-6E7D-835CA029A097}"/>
              </a:ext>
            </a:extLst>
          </p:cNvPr>
          <p:cNvSpPr>
            <a:spLocks noGrp="1"/>
          </p:cNvSpPr>
          <p:nvPr/>
        </p:nvSpPr>
        <p:spPr>
          <a:xfrm>
            <a:off x="-762000" y="-1143000"/>
            <a:ext cx="4000500" cy="4000500"/>
          </a:xfrm>
          <a:prstGeom prst="ellipse">
            <a:avLst/>
          </a:prstGeom>
          <a:solidFill>
            <a:srgbClr val="57A8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03CC883E-9902-D153-5754-C53A1E73CED9}"/>
              </a:ext>
            </a:extLst>
          </p:cNvPr>
          <p:cNvSpPr>
            <a:spLocks noGrp="1"/>
          </p:cNvSpPr>
          <p:nvPr/>
        </p:nvSpPr>
        <p:spPr>
          <a:xfrm>
            <a:off x="9144000" y="-1047750"/>
            <a:ext cx="3429000" cy="3429000"/>
          </a:xfrm>
          <a:prstGeom prst="ellipse">
            <a:avLst/>
          </a:prstGeom>
          <a:solidFill>
            <a:srgbClr val="7FE0BE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B3B5BE13-6B94-833C-E7BE-2D8487ED52B8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3238500" cy="2095500"/>
          </a:xfrm>
          <a:prstGeom prst="ellipse">
            <a:avLst/>
          </a:prstGeom>
          <a:solidFill>
            <a:srgbClr val="57A8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5" name="Obdĺžnik 4">
            <a:extLst>
              <a:ext uri="{FF2B5EF4-FFF2-40B4-BE49-F238E27FC236}">
                <a16:creationId xmlns:a16="http://schemas.microsoft.com/office/drawing/2014/main" id="{BF3C484F-3112-58D6-E748-FC1A83D28F5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FE0BE"/>
                </a:solidFill>
              </a:defRPr>
            </a:pPr>
            <a:r>
              <a:rPr lang="sk-SK" sz="975" b="1" noProof="0" dirty="0">
                <a:solidFill>
                  <a:srgbClr val="7FE0BE"/>
                </a:solidFill>
              </a:rPr>
              <a:t>DEMO APLIKÁCIE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9D9684A2-9348-CD4F-4F40-27661AD8AC6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3000" b="1" noProof="0" dirty="0">
                <a:solidFill>
                  <a:srgbClr val="EDF5FF"/>
                </a:solidFill>
              </a:rPr>
              <a:t>Ako </a:t>
            </a:r>
            <a:r>
              <a:rPr lang="sk-SK" sz="3000" b="1" noProof="0" dirty="0" err="1">
                <a:solidFill>
                  <a:srgbClr val="EDF5FF"/>
                </a:solidFill>
              </a:rPr>
              <a:t>FORMeGO</a:t>
            </a:r>
            <a:r>
              <a:rPr lang="sk-SK" sz="3000" b="1" noProof="0" dirty="0">
                <a:solidFill>
                  <a:srgbClr val="EDF5FF"/>
                </a:solidFill>
              </a:rPr>
              <a:t> vyzerá na telefóne</a:t>
            </a: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E645BCAF-8D98-BF8C-232C-95E7DC77EAD8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BC0DE"/>
                </a:solidFill>
              </a:defRPr>
            </a:pPr>
            <a:r>
              <a:rPr lang="sk-SK" sz="1350" b="0" noProof="0" dirty="0">
                <a:solidFill>
                  <a:srgbClr val="ABC0DE"/>
                </a:solidFill>
              </a:rPr>
              <a:t>Rozšírenie stojí na dvoch pilieroch: správa profilov a rýchly výber pri formulári.</a:t>
            </a:r>
          </a:p>
        </p:txBody>
      </p:sp>
      <p:pic>
        <p:nvPicPr>
          <p:cNvPr id="35" name="Obrázok 34">
            <a:extLst>
              <a:ext uri="{FF2B5EF4-FFF2-40B4-BE49-F238E27FC236}">
                <a16:creationId xmlns:a16="http://schemas.microsoft.com/office/drawing/2014/main" id="{B583E785-F351-114E-F697-C698AC357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137" y="-608556"/>
            <a:ext cx="7177123" cy="7466556"/>
          </a:xfrm>
          <a:prstGeom prst="rect">
            <a:avLst/>
          </a:prstGeom>
        </p:spPr>
      </p:pic>
      <p:pic>
        <p:nvPicPr>
          <p:cNvPr id="33" name="Obrázok 32">
            <a:extLst>
              <a:ext uri="{FF2B5EF4-FFF2-40B4-BE49-F238E27FC236}">
                <a16:creationId xmlns:a16="http://schemas.microsoft.com/office/drawing/2014/main" id="{F1C46A16-A2D4-4CED-2205-0E47FF197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826" y="309382"/>
            <a:ext cx="2560433" cy="5582061"/>
          </a:xfrm>
          <a:prstGeom prst="roundRect">
            <a:avLst>
              <a:gd name="adj" fmla="val 1664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42770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ál 1">
            <a:extLst>
              <a:ext uri="{FF2B5EF4-FFF2-40B4-BE49-F238E27FC236}">
                <a16:creationId xmlns:a16="http://schemas.microsoft.com/office/drawing/2014/main" id="{C3D764AE-D941-412D-86DD-73307E0A93AC}"/>
              </a:ext>
            </a:extLst>
          </p:cNvPr>
          <p:cNvSpPr>
            <a:spLocks noGrp="1"/>
          </p:cNvSpPr>
          <p:nvPr/>
        </p:nvSpPr>
        <p:spPr>
          <a:xfrm>
            <a:off x="-762000" y="-1143000"/>
            <a:ext cx="4000500" cy="4000500"/>
          </a:xfrm>
          <a:prstGeom prst="ellipse">
            <a:avLst/>
          </a:prstGeom>
          <a:solidFill>
            <a:srgbClr val="57A8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B4B8E396-02E3-4A80-AF3E-E926CE89479D}"/>
              </a:ext>
            </a:extLst>
          </p:cNvPr>
          <p:cNvSpPr>
            <a:spLocks noGrp="1"/>
          </p:cNvSpPr>
          <p:nvPr/>
        </p:nvSpPr>
        <p:spPr>
          <a:xfrm>
            <a:off x="9144000" y="-1047750"/>
            <a:ext cx="3429000" cy="3429000"/>
          </a:xfrm>
          <a:prstGeom prst="ellipse">
            <a:avLst/>
          </a:prstGeom>
          <a:solidFill>
            <a:srgbClr val="7FE0BE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57DCD784-866E-49E8-B6F8-1DBF3FB82894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3238500" cy="2095500"/>
          </a:xfrm>
          <a:prstGeom prst="ellipse">
            <a:avLst/>
          </a:prstGeom>
          <a:solidFill>
            <a:srgbClr val="57A8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5" name="Obdĺžnik 4">
            <a:extLst>
              <a:ext uri="{FF2B5EF4-FFF2-40B4-BE49-F238E27FC236}">
                <a16:creationId xmlns:a16="http://schemas.microsoft.com/office/drawing/2014/main" id="{8BA14121-CD9D-4EAF-A526-7783BCD9FAB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FE0BE"/>
                </a:solidFill>
              </a:defRPr>
            </a:pPr>
            <a:r>
              <a:rPr lang="sk-SK" sz="975" b="1" noProof="0" dirty="0">
                <a:solidFill>
                  <a:srgbClr val="7FE0BE"/>
                </a:solidFill>
              </a:rPr>
              <a:t>TECHNICKÉ ZÁLEŽITOSTI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4985A805-3BF3-4923-A05D-7840A5B38E7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2550" b="1" noProof="0" dirty="0">
                <a:solidFill>
                  <a:srgbClr val="EDF5FF"/>
                </a:solidFill>
              </a:rPr>
              <a:t>Ako je produkt postavený</a:t>
            </a: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248EA8EC-384C-4AD6-A3BB-018C72DD04E4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BC0DE"/>
                </a:solidFill>
              </a:defRPr>
            </a:pPr>
            <a:r>
              <a:rPr lang="sk-SK" sz="1350" b="0" noProof="0" dirty="0">
                <a:solidFill>
                  <a:srgbClr val="ABC0DE"/>
                </a:solidFill>
              </a:rPr>
              <a:t>Technológie sú jednoduché, ale riešia presne to, čo produkt potrebuje: UI, heuristiku, </a:t>
            </a:r>
            <a:r>
              <a:rPr lang="sk-SK" sz="1350" b="0" noProof="0" dirty="0" err="1">
                <a:solidFill>
                  <a:srgbClr val="ABC0DE"/>
                </a:solidFill>
              </a:rPr>
              <a:t>storage</a:t>
            </a:r>
            <a:r>
              <a:rPr lang="sk-SK" sz="1350" b="0" noProof="0" dirty="0">
                <a:solidFill>
                  <a:srgbClr val="ABC0DE"/>
                </a:solidFill>
              </a:rPr>
              <a:t> a bezpečnosť.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803D8519-3A41-4CA1-B180-2FDAA5AA447A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0820400" cy="3619500"/>
          </a:xfrm>
          <a:prstGeom prst="roundRect">
            <a:avLst>
              <a:gd name="adj" fmla="val 2105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9" name="Obdĺžnik: zaoblené rohy 8">
            <a:extLst>
              <a:ext uri="{FF2B5EF4-FFF2-40B4-BE49-F238E27FC236}">
                <a16:creationId xmlns:a16="http://schemas.microsoft.com/office/drawing/2014/main" id="{4B908AA9-EE32-4333-A002-A549B7BD75A4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2076450" cy="1314450"/>
          </a:xfrm>
          <a:prstGeom prst="roundRect">
            <a:avLst>
              <a:gd name="adj" fmla="val 5797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0CA71294-1CFB-46EC-A81D-6483E3156C0B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76200" cy="131445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D2D8CCAC-8CAC-45F9-A188-38D5A6808CAF}"/>
              </a:ext>
            </a:extLst>
          </p:cNvPr>
          <p:cNvSpPr>
            <a:spLocks noGrp="1"/>
          </p:cNvSpPr>
          <p:nvPr/>
        </p:nvSpPr>
        <p:spPr>
          <a:xfrm>
            <a:off x="112395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EDF5FF"/>
                </a:solidFill>
              </a:defRPr>
            </a:pPr>
            <a:r>
              <a:rPr lang="sk-SK" sz="1500" b="1" noProof="0" dirty="0">
                <a:solidFill>
                  <a:srgbClr val="EDF5FF"/>
                </a:solidFill>
              </a:rPr>
              <a:t>Manifest V3</a:t>
            </a:r>
          </a:p>
        </p:txBody>
      </p:sp>
      <p:sp>
        <p:nvSpPr>
          <p:cNvPr id="12" name="Obdĺžnik 11">
            <a:extLst>
              <a:ext uri="{FF2B5EF4-FFF2-40B4-BE49-F238E27FC236}">
                <a16:creationId xmlns:a16="http://schemas.microsoft.com/office/drawing/2014/main" id="{E2C4C00B-4828-4EC2-8DF0-28310F46EA9F}"/>
              </a:ext>
            </a:extLst>
          </p:cNvPr>
          <p:cNvSpPr>
            <a:spLocks noGrp="1"/>
          </p:cNvSpPr>
          <p:nvPr/>
        </p:nvSpPr>
        <p:spPr>
          <a:xfrm>
            <a:off x="1123950" y="3257550"/>
            <a:ext cx="1733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987"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Chrome/</a:t>
            </a:r>
            <a:r>
              <a:rPr lang="sk-SK" sz="1200" b="0" noProof="0" dirty="0" err="1">
                <a:solidFill>
                  <a:srgbClr val="ABC0DE"/>
                </a:solidFill>
              </a:rPr>
              <a:t>Edge</a:t>
            </a:r>
            <a:r>
              <a:rPr lang="sk-SK" sz="1200" b="0" noProof="0" dirty="0">
                <a:solidFill>
                  <a:srgbClr val="ABC0DE"/>
                </a:solidFill>
              </a:rPr>
              <a:t> </a:t>
            </a:r>
            <a:r>
              <a:rPr lang="sk-SK" sz="1200" b="0" noProof="0" dirty="0" err="1">
                <a:solidFill>
                  <a:srgbClr val="ABC0DE"/>
                </a:solidFill>
              </a:rPr>
              <a:t>extension</a:t>
            </a:r>
            <a:r>
              <a:rPr lang="sk-SK" sz="1200" b="0" noProof="0" dirty="0">
                <a:solidFill>
                  <a:srgbClr val="ABC0DE"/>
                </a:solidFill>
              </a:rPr>
              <a:t> so správnym </a:t>
            </a:r>
            <a:r>
              <a:rPr lang="sk-SK" sz="1200" b="0" noProof="0" dirty="0" err="1">
                <a:solidFill>
                  <a:srgbClr val="ABC0DE"/>
                </a:solidFill>
              </a:rPr>
              <a:t>life-cyclom</a:t>
            </a:r>
            <a:r>
              <a:rPr lang="sk-SK" sz="1200" b="0" noProof="0" dirty="0">
                <a:solidFill>
                  <a:srgbClr val="ABC0DE"/>
                </a:solidFill>
              </a:rPr>
              <a:t> a </a:t>
            </a:r>
            <a:r>
              <a:rPr lang="sk-SK" sz="1200" b="0" noProof="0" dirty="0" err="1">
                <a:solidFill>
                  <a:srgbClr val="ABC0DE"/>
                </a:solidFill>
              </a:rPr>
              <a:t>host</a:t>
            </a:r>
            <a:r>
              <a:rPr lang="sk-SK" sz="1200" b="0" noProof="0" dirty="0">
                <a:solidFill>
                  <a:srgbClr val="ABC0DE"/>
                </a:solidFill>
              </a:rPr>
              <a:t> </a:t>
            </a:r>
            <a:r>
              <a:rPr lang="sk-SK" sz="1200" b="0" noProof="0" dirty="0" err="1">
                <a:solidFill>
                  <a:srgbClr val="ABC0DE"/>
                </a:solidFill>
              </a:rPr>
              <a:t>permissions</a:t>
            </a:r>
            <a:r>
              <a:rPr lang="sk-SK" sz="1200" b="0" noProof="0" dirty="0">
                <a:solidFill>
                  <a:srgbClr val="ABC0DE"/>
                </a:solidFill>
              </a:rPr>
              <a:t>.</a:t>
            </a:r>
          </a:p>
        </p:txBody>
      </p:sp>
      <p:sp>
        <p:nvSpPr>
          <p:cNvPr id="13" name="Obdĺžnik: zaoblené rohy 12">
            <a:extLst>
              <a:ext uri="{FF2B5EF4-FFF2-40B4-BE49-F238E27FC236}">
                <a16:creationId xmlns:a16="http://schemas.microsoft.com/office/drawing/2014/main" id="{398AA66A-BA6B-4293-9AF8-8165496C9F77}"/>
              </a:ext>
            </a:extLst>
          </p:cNvPr>
          <p:cNvSpPr>
            <a:spLocks noGrp="1"/>
          </p:cNvSpPr>
          <p:nvPr/>
        </p:nvSpPr>
        <p:spPr>
          <a:xfrm>
            <a:off x="3543300" y="2724150"/>
            <a:ext cx="2286000" cy="1314450"/>
          </a:xfrm>
          <a:prstGeom prst="roundRect">
            <a:avLst>
              <a:gd name="adj" fmla="val 5797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2C405067-CD3C-41FE-B0E4-0CC72EB66936}"/>
              </a:ext>
            </a:extLst>
          </p:cNvPr>
          <p:cNvSpPr>
            <a:spLocks noGrp="1"/>
          </p:cNvSpPr>
          <p:nvPr/>
        </p:nvSpPr>
        <p:spPr>
          <a:xfrm>
            <a:off x="3543300" y="2724150"/>
            <a:ext cx="76200" cy="1314450"/>
          </a:xfrm>
          <a:prstGeom prst="rect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9E2A3B53-7812-4846-B0E5-F46F38EB74C3}"/>
              </a:ext>
            </a:extLst>
          </p:cNvPr>
          <p:cNvSpPr>
            <a:spLocks noGrp="1"/>
          </p:cNvSpPr>
          <p:nvPr/>
        </p:nvSpPr>
        <p:spPr>
          <a:xfrm>
            <a:off x="3714750" y="289560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EDF5FF"/>
                </a:solidFill>
              </a:defRPr>
            </a:pPr>
            <a:r>
              <a:rPr lang="sk-SK" sz="1500" b="1" noProof="0" dirty="0" err="1">
                <a:solidFill>
                  <a:srgbClr val="EDF5FF"/>
                </a:solidFill>
              </a:rPr>
              <a:t>Content</a:t>
            </a:r>
            <a:r>
              <a:rPr lang="sk-SK" sz="1500" b="1" noProof="0" dirty="0">
                <a:solidFill>
                  <a:srgbClr val="EDF5FF"/>
                </a:solidFill>
              </a:rPr>
              <a:t> </a:t>
            </a:r>
            <a:r>
              <a:rPr lang="sk-SK" sz="1500" b="1" noProof="0" dirty="0" err="1">
                <a:solidFill>
                  <a:srgbClr val="EDF5FF"/>
                </a:solidFill>
              </a:rPr>
              <a:t>script</a:t>
            </a:r>
            <a:endParaRPr lang="sk-SK" sz="1500" b="1" noProof="0" dirty="0">
              <a:solidFill>
                <a:srgbClr val="EDF5FF"/>
              </a:solidFill>
            </a:endParaRPr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F8288F79-0855-4A81-81FA-B85F559DBC76}"/>
              </a:ext>
            </a:extLst>
          </p:cNvPr>
          <p:cNvSpPr>
            <a:spLocks noGrp="1"/>
          </p:cNvSpPr>
          <p:nvPr/>
        </p:nvSpPr>
        <p:spPr>
          <a:xfrm>
            <a:off x="3714750" y="325755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987"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Sleduje </a:t>
            </a:r>
            <a:r>
              <a:rPr lang="sk-SK" sz="1200" b="0" noProof="0" dirty="0" err="1">
                <a:solidFill>
                  <a:srgbClr val="ABC0DE"/>
                </a:solidFill>
              </a:rPr>
              <a:t>focus</a:t>
            </a:r>
            <a:r>
              <a:rPr lang="sk-SK" sz="1200" b="0" noProof="0" dirty="0">
                <a:solidFill>
                  <a:srgbClr val="ABC0DE"/>
                </a:solidFill>
              </a:rPr>
              <a:t> formulárov, zobrazuje </a:t>
            </a:r>
            <a:r>
              <a:rPr lang="sk-SK" sz="1200" b="0" noProof="0" dirty="0" err="1">
                <a:solidFill>
                  <a:srgbClr val="ABC0DE"/>
                </a:solidFill>
              </a:rPr>
              <a:t>popover</a:t>
            </a:r>
            <a:r>
              <a:rPr lang="sk-SK" sz="1200" b="0" noProof="0" dirty="0">
                <a:solidFill>
                  <a:srgbClr val="ABC0DE"/>
                </a:solidFill>
              </a:rPr>
              <a:t> a mapuje polia heuristikou.</a:t>
            </a:r>
          </a:p>
        </p:txBody>
      </p:sp>
      <p:sp>
        <p:nvSpPr>
          <p:cNvPr id="17" name="Obdĺžnik: zaoblené rohy 16">
            <a:extLst>
              <a:ext uri="{FF2B5EF4-FFF2-40B4-BE49-F238E27FC236}">
                <a16:creationId xmlns:a16="http://schemas.microsoft.com/office/drawing/2014/main" id="{9F33A4C4-73AF-465D-91A1-A389DD32BB81}"/>
              </a:ext>
            </a:extLst>
          </p:cNvPr>
          <p:cNvSpPr>
            <a:spLocks noGrp="1"/>
          </p:cNvSpPr>
          <p:nvPr/>
        </p:nvSpPr>
        <p:spPr>
          <a:xfrm>
            <a:off x="6343650" y="2724150"/>
            <a:ext cx="2286000" cy="1314450"/>
          </a:xfrm>
          <a:prstGeom prst="roundRect">
            <a:avLst>
              <a:gd name="adj" fmla="val 5797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A2934069-E039-4ACA-BF9C-DB98A451BCDC}"/>
              </a:ext>
            </a:extLst>
          </p:cNvPr>
          <p:cNvSpPr>
            <a:spLocks noGrp="1"/>
          </p:cNvSpPr>
          <p:nvPr/>
        </p:nvSpPr>
        <p:spPr>
          <a:xfrm>
            <a:off x="6343650" y="2724150"/>
            <a:ext cx="76200" cy="1314450"/>
          </a:xfrm>
          <a:prstGeom prst="rect">
            <a:avLst/>
          </a:prstGeom>
          <a:solidFill>
            <a:srgbClr val="F6C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29607DF7-A164-4708-9ACF-732DF237418B}"/>
              </a:ext>
            </a:extLst>
          </p:cNvPr>
          <p:cNvSpPr>
            <a:spLocks noGrp="1"/>
          </p:cNvSpPr>
          <p:nvPr/>
        </p:nvSpPr>
        <p:spPr>
          <a:xfrm>
            <a:off x="6515100" y="289560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EDF5FF"/>
                </a:solidFill>
              </a:defRPr>
            </a:pPr>
            <a:r>
              <a:rPr lang="sk-SK" sz="1500" b="1" noProof="0" dirty="0" err="1">
                <a:solidFill>
                  <a:srgbClr val="EDF5FF"/>
                </a:solidFill>
              </a:rPr>
              <a:t>Options</a:t>
            </a:r>
            <a:r>
              <a:rPr lang="sk-SK" sz="1500" b="1" noProof="0" dirty="0">
                <a:solidFill>
                  <a:srgbClr val="EDF5FF"/>
                </a:solidFill>
              </a:rPr>
              <a:t> </a:t>
            </a:r>
            <a:r>
              <a:rPr lang="sk-SK" sz="1500" b="1" noProof="0" dirty="0" err="1">
                <a:solidFill>
                  <a:srgbClr val="EDF5FF"/>
                </a:solidFill>
              </a:rPr>
              <a:t>page</a:t>
            </a:r>
            <a:endParaRPr lang="sk-SK" sz="1500" b="1" noProof="0" dirty="0">
              <a:solidFill>
                <a:srgbClr val="EDF5FF"/>
              </a:solidFill>
            </a:endParaRPr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4BF61EAC-F449-4A86-9580-C2F1DA47D8E7}"/>
              </a:ext>
            </a:extLst>
          </p:cNvPr>
          <p:cNvSpPr>
            <a:spLocks noGrp="1"/>
          </p:cNvSpPr>
          <p:nvPr/>
        </p:nvSpPr>
        <p:spPr>
          <a:xfrm>
            <a:off x="6515100" y="325755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Editor profilov, sekcie údajov, </a:t>
            </a:r>
            <a:r>
              <a:rPr lang="sk-SK" sz="1200" b="0" noProof="0" dirty="0" err="1">
                <a:solidFill>
                  <a:srgbClr val="ABC0DE"/>
                </a:solidFill>
              </a:rPr>
              <a:t>dark</a:t>
            </a:r>
            <a:r>
              <a:rPr lang="sk-SK" sz="1200" b="0" noProof="0" dirty="0">
                <a:solidFill>
                  <a:srgbClr val="ABC0DE"/>
                </a:solidFill>
              </a:rPr>
              <a:t> UI a správa </a:t>
            </a:r>
            <a:r>
              <a:rPr lang="sk-SK" sz="1200" b="0" noProof="0" dirty="0" err="1">
                <a:solidFill>
                  <a:srgbClr val="ABC0DE"/>
                </a:solidFill>
              </a:rPr>
              <a:t>vaultu</a:t>
            </a:r>
            <a:r>
              <a:rPr lang="sk-SK" sz="1200" b="0" noProof="0" dirty="0">
                <a:solidFill>
                  <a:srgbClr val="ABC0DE"/>
                </a:solidFill>
              </a:rPr>
              <a:t>.</a:t>
            </a:r>
          </a:p>
        </p:txBody>
      </p:sp>
      <p:sp>
        <p:nvSpPr>
          <p:cNvPr id="21" name="Obdĺžnik: zaoblené rohy 20">
            <a:extLst>
              <a:ext uri="{FF2B5EF4-FFF2-40B4-BE49-F238E27FC236}">
                <a16:creationId xmlns:a16="http://schemas.microsoft.com/office/drawing/2014/main" id="{3BC29625-E1B9-405F-8109-63119875C103}"/>
              </a:ext>
            </a:extLst>
          </p:cNvPr>
          <p:cNvSpPr>
            <a:spLocks noGrp="1"/>
          </p:cNvSpPr>
          <p:nvPr/>
        </p:nvSpPr>
        <p:spPr>
          <a:xfrm>
            <a:off x="9144000" y="2724150"/>
            <a:ext cx="2076450" cy="1314450"/>
          </a:xfrm>
          <a:prstGeom prst="roundRect">
            <a:avLst>
              <a:gd name="adj" fmla="val 5797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4A747B26-4C9C-4B74-8E2A-ECBB352327E0}"/>
              </a:ext>
            </a:extLst>
          </p:cNvPr>
          <p:cNvSpPr>
            <a:spLocks noGrp="1"/>
          </p:cNvSpPr>
          <p:nvPr/>
        </p:nvSpPr>
        <p:spPr>
          <a:xfrm>
            <a:off x="9144000" y="2724150"/>
            <a:ext cx="76200" cy="1314450"/>
          </a:xfrm>
          <a:prstGeom prst="rect">
            <a:avLst/>
          </a:prstGeom>
          <a:solidFill>
            <a:srgbClr val="FF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3" name="Obdĺžnik 22">
            <a:extLst>
              <a:ext uri="{FF2B5EF4-FFF2-40B4-BE49-F238E27FC236}">
                <a16:creationId xmlns:a16="http://schemas.microsoft.com/office/drawing/2014/main" id="{5963D218-28B0-48DE-B8F5-EE04BC15E3C6}"/>
              </a:ext>
            </a:extLst>
          </p:cNvPr>
          <p:cNvSpPr>
            <a:spLocks noGrp="1"/>
          </p:cNvSpPr>
          <p:nvPr/>
        </p:nvSpPr>
        <p:spPr>
          <a:xfrm>
            <a:off x="931545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EDF5FF"/>
                </a:solidFill>
              </a:defRPr>
            </a:pPr>
            <a:r>
              <a:rPr lang="sk-SK" sz="1500" b="1" noProof="0" dirty="0" err="1">
                <a:solidFill>
                  <a:srgbClr val="EDF5FF"/>
                </a:solidFill>
              </a:rPr>
              <a:t>Background</a:t>
            </a:r>
            <a:r>
              <a:rPr lang="sk-SK" sz="1500" b="1" noProof="0" dirty="0">
                <a:solidFill>
                  <a:srgbClr val="EDF5FF"/>
                </a:solidFill>
              </a:rPr>
              <a:t> + </a:t>
            </a:r>
            <a:r>
              <a:rPr lang="sk-SK" sz="1500" b="1" noProof="0" dirty="0" err="1">
                <a:solidFill>
                  <a:srgbClr val="EDF5FF"/>
                </a:solidFill>
              </a:rPr>
              <a:t>storage</a:t>
            </a:r>
            <a:endParaRPr lang="sk-SK" sz="1500" b="1" noProof="0" dirty="0">
              <a:solidFill>
                <a:srgbClr val="EDF5FF"/>
              </a:solidFill>
            </a:endParaRPr>
          </a:p>
        </p:txBody>
      </p:sp>
      <p:sp>
        <p:nvSpPr>
          <p:cNvPr id="24" name="Obdĺžnik 23">
            <a:extLst>
              <a:ext uri="{FF2B5EF4-FFF2-40B4-BE49-F238E27FC236}">
                <a16:creationId xmlns:a16="http://schemas.microsoft.com/office/drawing/2014/main" id="{21505154-A1F3-43F0-9A1C-9D755D9E47E6}"/>
              </a:ext>
            </a:extLst>
          </p:cNvPr>
          <p:cNvSpPr>
            <a:spLocks noGrp="1"/>
          </p:cNvSpPr>
          <p:nvPr/>
        </p:nvSpPr>
        <p:spPr>
          <a:xfrm>
            <a:off x="9315450" y="3257550"/>
            <a:ext cx="1733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BC0DE"/>
                </a:solidFill>
              </a:defRPr>
            </a:pPr>
            <a:r>
              <a:rPr lang="sk-SK" sz="1200" b="0" noProof="0" dirty="0">
                <a:solidFill>
                  <a:srgbClr val="ABC0DE"/>
                </a:solidFill>
              </a:rPr>
              <a:t>Šifrovaný </a:t>
            </a:r>
            <a:r>
              <a:rPr lang="sk-SK" sz="1200" b="0" noProof="0" dirty="0" err="1">
                <a:solidFill>
                  <a:srgbClr val="ABC0DE"/>
                </a:solidFill>
              </a:rPr>
              <a:t>vault</a:t>
            </a:r>
            <a:r>
              <a:rPr lang="sk-SK" sz="1200" b="0" noProof="0" dirty="0">
                <a:solidFill>
                  <a:srgbClr val="ABC0DE"/>
                </a:solidFill>
              </a:rPr>
              <a:t>, </a:t>
            </a:r>
            <a:r>
              <a:rPr lang="sk-SK" sz="1200" b="0" noProof="0" dirty="0" err="1">
                <a:solidFill>
                  <a:srgbClr val="ABC0DE"/>
                </a:solidFill>
              </a:rPr>
              <a:t>messaging</a:t>
            </a:r>
            <a:r>
              <a:rPr lang="sk-SK" sz="1200" b="0" noProof="0" dirty="0">
                <a:solidFill>
                  <a:srgbClr val="ABC0DE"/>
                </a:solidFill>
              </a:rPr>
              <a:t> a práca s </a:t>
            </a:r>
            <a:r>
              <a:rPr lang="sk-SK" sz="1200" b="0" noProof="0" dirty="0" err="1">
                <a:solidFill>
                  <a:srgbClr val="ABC0DE"/>
                </a:solidFill>
              </a:rPr>
              <a:t>chrome.storage</a:t>
            </a:r>
            <a:r>
              <a:rPr lang="sk-SK" sz="1200" b="0" noProof="0" dirty="0">
                <a:solidFill>
                  <a:srgbClr val="ABC0DE"/>
                </a:solidFill>
              </a:rPr>
              <a:t>.</a:t>
            </a:r>
          </a:p>
        </p:txBody>
      </p:sp>
      <p:sp>
        <p:nvSpPr>
          <p:cNvPr id="25" name="Obdĺžnik 24">
            <a:extLst>
              <a:ext uri="{FF2B5EF4-FFF2-40B4-BE49-F238E27FC236}">
                <a16:creationId xmlns:a16="http://schemas.microsoft.com/office/drawing/2014/main" id="{66A95FB3-DF3B-4D2F-B5BC-437967471E47}"/>
              </a:ext>
            </a:extLst>
          </p:cNvPr>
          <p:cNvSpPr>
            <a:spLocks noGrp="1"/>
          </p:cNvSpPr>
          <p:nvPr/>
        </p:nvSpPr>
        <p:spPr>
          <a:xfrm>
            <a:off x="3048000" y="3238500"/>
            <a:ext cx="40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86C0FF"/>
                </a:solidFill>
              </a:defRPr>
            </a:pPr>
            <a:r>
              <a:rPr lang="sk-SK" sz="2100" b="1" noProof="0" dirty="0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26" name="Obdĺžnik 25">
            <a:extLst>
              <a:ext uri="{FF2B5EF4-FFF2-40B4-BE49-F238E27FC236}">
                <a16:creationId xmlns:a16="http://schemas.microsoft.com/office/drawing/2014/main" id="{46BA300D-3EC1-42F1-BA7F-EF1311C87C09}"/>
              </a:ext>
            </a:extLst>
          </p:cNvPr>
          <p:cNvSpPr>
            <a:spLocks noGrp="1"/>
          </p:cNvSpPr>
          <p:nvPr/>
        </p:nvSpPr>
        <p:spPr>
          <a:xfrm>
            <a:off x="5848350" y="3238500"/>
            <a:ext cx="40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86C0FF"/>
                </a:solidFill>
              </a:defRPr>
            </a:pPr>
            <a:r>
              <a:rPr lang="sk-SK" sz="2100" b="1" noProof="0" dirty="0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27" name="Obdĺžnik 26">
            <a:extLst>
              <a:ext uri="{FF2B5EF4-FFF2-40B4-BE49-F238E27FC236}">
                <a16:creationId xmlns:a16="http://schemas.microsoft.com/office/drawing/2014/main" id="{8597DCE4-B361-4F30-ACB7-53F5CC1D6528}"/>
              </a:ext>
            </a:extLst>
          </p:cNvPr>
          <p:cNvSpPr>
            <a:spLocks noGrp="1"/>
          </p:cNvSpPr>
          <p:nvPr/>
        </p:nvSpPr>
        <p:spPr>
          <a:xfrm>
            <a:off x="8648700" y="3238500"/>
            <a:ext cx="40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86C0FF"/>
                </a:solidFill>
              </a:defRPr>
            </a:pPr>
            <a:r>
              <a:rPr lang="sk-SK" sz="2100" b="1" noProof="0" dirty="0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28" name="Obdĺžnik: zaoblené rohy 27">
            <a:extLst>
              <a:ext uri="{FF2B5EF4-FFF2-40B4-BE49-F238E27FC236}">
                <a16:creationId xmlns:a16="http://schemas.microsoft.com/office/drawing/2014/main" id="{34DDE56F-142D-4C7D-BD22-2C4F9476C19C}"/>
              </a:ext>
            </a:extLst>
          </p:cNvPr>
          <p:cNvSpPr>
            <a:spLocks noGrp="1"/>
          </p:cNvSpPr>
          <p:nvPr/>
        </p:nvSpPr>
        <p:spPr>
          <a:xfrm>
            <a:off x="952500" y="4953000"/>
            <a:ext cx="1885950" cy="361950"/>
          </a:xfrm>
          <a:prstGeom prst="roundRect">
            <a:avLst>
              <a:gd name="adj" fmla="val 21053"/>
            </a:avLst>
          </a:prstGeom>
          <a:solidFill>
            <a:srgbClr val="122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>
                <a:solidFill>
                  <a:srgbClr val="EDF5FF"/>
                </a:solidFill>
              </a:rPr>
              <a:t>HTML + CSS + JavaScript</a:t>
            </a:r>
          </a:p>
        </p:txBody>
      </p:sp>
      <p:sp>
        <p:nvSpPr>
          <p:cNvPr id="29" name="Obdĺžnik: zaoblené rohy 28">
            <a:extLst>
              <a:ext uri="{FF2B5EF4-FFF2-40B4-BE49-F238E27FC236}">
                <a16:creationId xmlns:a16="http://schemas.microsoft.com/office/drawing/2014/main" id="{494B3FE4-06CC-44A1-A255-9F39C4A9EA0D}"/>
              </a:ext>
            </a:extLst>
          </p:cNvPr>
          <p:cNvSpPr>
            <a:spLocks noGrp="1"/>
          </p:cNvSpPr>
          <p:nvPr/>
        </p:nvSpPr>
        <p:spPr>
          <a:xfrm>
            <a:off x="3009900" y="4953000"/>
            <a:ext cx="1885950" cy="361950"/>
          </a:xfrm>
          <a:prstGeom prst="roundRect">
            <a:avLst>
              <a:gd name="adj" fmla="val 21053"/>
            </a:avLst>
          </a:prstGeom>
          <a:solidFill>
            <a:srgbClr val="122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 err="1">
                <a:solidFill>
                  <a:srgbClr val="EDF5FF"/>
                </a:solidFill>
              </a:rPr>
              <a:t>chrome.storage.sync</a:t>
            </a:r>
            <a:endParaRPr lang="sk-SK" sz="1125" b="1" noProof="0" dirty="0">
              <a:solidFill>
                <a:srgbClr val="EDF5FF"/>
              </a:solidFill>
            </a:endParaRPr>
          </a:p>
        </p:txBody>
      </p:sp>
      <p:sp>
        <p:nvSpPr>
          <p:cNvPr id="30" name="Obdĺžnik: zaoblené rohy 29">
            <a:extLst>
              <a:ext uri="{FF2B5EF4-FFF2-40B4-BE49-F238E27FC236}">
                <a16:creationId xmlns:a16="http://schemas.microsoft.com/office/drawing/2014/main" id="{195B2D54-AFB7-46DA-A386-6CBCE945EEFA}"/>
              </a:ext>
            </a:extLst>
          </p:cNvPr>
          <p:cNvSpPr>
            <a:spLocks noGrp="1"/>
          </p:cNvSpPr>
          <p:nvPr/>
        </p:nvSpPr>
        <p:spPr>
          <a:xfrm>
            <a:off x="5067300" y="4953000"/>
            <a:ext cx="1885950" cy="361950"/>
          </a:xfrm>
          <a:prstGeom prst="roundRect">
            <a:avLst>
              <a:gd name="adj" fmla="val 21053"/>
            </a:avLst>
          </a:prstGeom>
          <a:solidFill>
            <a:srgbClr val="122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 err="1">
                <a:solidFill>
                  <a:srgbClr val="EDF5FF"/>
                </a:solidFill>
              </a:rPr>
              <a:t>React</a:t>
            </a:r>
            <a:r>
              <a:rPr lang="sk-SK" sz="1125" b="1" noProof="0" dirty="0">
                <a:solidFill>
                  <a:srgbClr val="EDF5FF"/>
                </a:solidFill>
              </a:rPr>
              <a:t>/</a:t>
            </a:r>
            <a:r>
              <a:rPr lang="sk-SK" sz="1125" b="1" noProof="0" dirty="0" err="1">
                <a:solidFill>
                  <a:srgbClr val="EDF5FF"/>
                </a:solidFill>
              </a:rPr>
              <a:t>Vue</a:t>
            </a:r>
            <a:r>
              <a:rPr lang="sk-SK" sz="1125" b="1" noProof="0" dirty="0">
                <a:solidFill>
                  <a:srgbClr val="EDF5FF"/>
                </a:solidFill>
              </a:rPr>
              <a:t> </a:t>
            </a:r>
            <a:r>
              <a:rPr lang="sk-SK" sz="1125" b="1" noProof="0" dirty="0" err="1">
                <a:solidFill>
                  <a:srgbClr val="EDF5FF"/>
                </a:solidFill>
              </a:rPr>
              <a:t>compatible</a:t>
            </a:r>
            <a:r>
              <a:rPr lang="sk-SK" sz="1125" b="1" noProof="0" dirty="0">
                <a:solidFill>
                  <a:srgbClr val="EDF5FF"/>
                </a:solidFill>
              </a:rPr>
              <a:t> </a:t>
            </a:r>
            <a:r>
              <a:rPr lang="sk-SK" sz="1125" b="1" noProof="0" dirty="0" err="1">
                <a:solidFill>
                  <a:srgbClr val="EDF5FF"/>
                </a:solidFill>
              </a:rPr>
              <a:t>events</a:t>
            </a:r>
            <a:endParaRPr lang="sk-SK" sz="1125" b="1" noProof="0" dirty="0">
              <a:solidFill>
                <a:srgbClr val="EDF5FF"/>
              </a:solidFill>
            </a:endParaRPr>
          </a:p>
        </p:txBody>
      </p:sp>
      <p:sp>
        <p:nvSpPr>
          <p:cNvPr id="31" name="Obdĺžnik: zaoblené rohy 30">
            <a:extLst>
              <a:ext uri="{FF2B5EF4-FFF2-40B4-BE49-F238E27FC236}">
                <a16:creationId xmlns:a16="http://schemas.microsoft.com/office/drawing/2014/main" id="{C8139D57-C7E2-4788-96C3-94FEB5CF6B67}"/>
              </a:ext>
            </a:extLst>
          </p:cNvPr>
          <p:cNvSpPr>
            <a:spLocks noGrp="1"/>
          </p:cNvSpPr>
          <p:nvPr/>
        </p:nvSpPr>
        <p:spPr>
          <a:xfrm>
            <a:off x="7124700" y="4953000"/>
            <a:ext cx="1885950" cy="361950"/>
          </a:xfrm>
          <a:prstGeom prst="roundRect">
            <a:avLst>
              <a:gd name="adj" fmla="val 21053"/>
            </a:avLst>
          </a:prstGeom>
          <a:solidFill>
            <a:srgbClr val="122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>
                <a:solidFill>
                  <a:srgbClr val="EDF5FF"/>
                </a:solidFill>
              </a:rPr>
              <a:t>heuristické mapovanie polí</a:t>
            </a:r>
          </a:p>
        </p:txBody>
      </p:sp>
      <p:sp>
        <p:nvSpPr>
          <p:cNvPr id="32" name="Obdĺžnik: zaoblené rohy 31">
            <a:extLst>
              <a:ext uri="{FF2B5EF4-FFF2-40B4-BE49-F238E27FC236}">
                <a16:creationId xmlns:a16="http://schemas.microsoft.com/office/drawing/2014/main" id="{632B6CE9-9606-4FB3-A0D3-68167ACBC62A}"/>
              </a:ext>
            </a:extLst>
          </p:cNvPr>
          <p:cNvSpPr>
            <a:spLocks noGrp="1"/>
          </p:cNvSpPr>
          <p:nvPr/>
        </p:nvSpPr>
        <p:spPr>
          <a:xfrm>
            <a:off x="9182100" y="4953000"/>
            <a:ext cx="1885950" cy="361950"/>
          </a:xfrm>
          <a:prstGeom prst="roundRect">
            <a:avLst>
              <a:gd name="adj" fmla="val 21053"/>
            </a:avLst>
          </a:prstGeom>
          <a:solidFill>
            <a:srgbClr val="122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>
                <a:solidFill>
                  <a:srgbClr val="EDF5FF"/>
                </a:solidFill>
              </a:rPr>
              <a:t>AES-GCM </a:t>
            </a:r>
            <a:r>
              <a:rPr lang="sk-SK" sz="1125" b="1" noProof="0" dirty="0" err="1">
                <a:solidFill>
                  <a:srgbClr val="EDF5FF"/>
                </a:solidFill>
              </a:rPr>
              <a:t>vault</a:t>
            </a:r>
            <a:endParaRPr lang="sk-SK" sz="1125" b="1" noProof="0" dirty="0">
              <a:solidFill>
                <a:srgbClr val="EDF5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477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ál 1">
            <a:extLst>
              <a:ext uri="{FF2B5EF4-FFF2-40B4-BE49-F238E27FC236}">
                <a16:creationId xmlns:a16="http://schemas.microsoft.com/office/drawing/2014/main" id="{920CEFAB-E63C-4265-BEF1-E9349316A14C}"/>
              </a:ext>
            </a:extLst>
          </p:cNvPr>
          <p:cNvSpPr>
            <a:spLocks noGrp="1"/>
          </p:cNvSpPr>
          <p:nvPr/>
        </p:nvSpPr>
        <p:spPr>
          <a:xfrm>
            <a:off x="-762000" y="-1143000"/>
            <a:ext cx="4000500" cy="4000500"/>
          </a:xfrm>
          <a:prstGeom prst="ellipse">
            <a:avLst/>
          </a:prstGeom>
          <a:solidFill>
            <a:srgbClr val="57A8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D46C757E-3C39-49D7-B4FD-F016BCABD39A}"/>
              </a:ext>
            </a:extLst>
          </p:cNvPr>
          <p:cNvSpPr>
            <a:spLocks noGrp="1"/>
          </p:cNvSpPr>
          <p:nvPr/>
        </p:nvSpPr>
        <p:spPr>
          <a:xfrm>
            <a:off x="9144000" y="-1047750"/>
            <a:ext cx="3429000" cy="3429000"/>
          </a:xfrm>
          <a:prstGeom prst="ellipse">
            <a:avLst/>
          </a:prstGeom>
          <a:solidFill>
            <a:srgbClr val="7FE0BE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55CA5830-E9A6-49C9-8367-33DB7DF92264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3238500" cy="2095500"/>
          </a:xfrm>
          <a:prstGeom prst="ellipse">
            <a:avLst/>
          </a:prstGeom>
          <a:solidFill>
            <a:srgbClr val="57A8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5" name="Obdĺžnik 4">
            <a:extLst>
              <a:ext uri="{FF2B5EF4-FFF2-40B4-BE49-F238E27FC236}">
                <a16:creationId xmlns:a16="http://schemas.microsoft.com/office/drawing/2014/main" id="{009FAAE8-7BEC-4D93-B6A4-6C27FCC476E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FE0BE"/>
                </a:solidFill>
              </a:defRPr>
            </a:pPr>
            <a:r>
              <a:rPr lang="sk-SK" sz="975" b="1" noProof="0" dirty="0">
                <a:solidFill>
                  <a:srgbClr val="7FE0BE"/>
                </a:solidFill>
              </a:rPr>
              <a:t>SPÄTNÁ VÄZBA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CDB8F741-7309-494C-9E3F-1194B04AFB85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EDF5FF"/>
                </a:solidFill>
              </a:defRPr>
            </a:pPr>
            <a:r>
              <a:rPr lang="sk-SK" sz="2550" b="1" noProof="0" dirty="0">
                <a:solidFill>
                  <a:srgbClr val="EDF5FF"/>
                </a:solidFill>
              </a:rPr>
              <a:t>Zdroj, feedback, odpoveď, ponaučenie</a:t>
            </a: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5A1D95C1-6CAA-47BA-909C-C27E31DDDCE5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BC0DE"/>
                </a:solidFill>
              </a:defRPr>
            </a:pPr>
            <a:r>
              <a:rPr lang="sk-SK" sz="1350" b="0" noProof="0" dirty="0">
                <a:solidFill>
                  <a:srgbClr val="ABC0DE"/>
                </a:solidFill>
              </a:rPr>
              <a:t>Feedback neslúžil len na potvrdenie nápadu, ale aj na zúženie rozsahu a lepšie </a:t>
            </a:r>
            <a:r>
              <a:rPr lang="sk-SK" sz="1350" b="0" noProof="0" dirty="0" err="1">
                <a:solidFill>
                  <a:srgbClr val="ABC0DE"/>
                </a:solidFill>
              </a:rPr>
              <a:t>prioritizovanie</a:t>
            </a:r>
            <a:r>
              <a:rPr lang="sk-SK" sz="1350" b="0" noProof="0" dirty="0">
                <a:solidFill>
                  <a:srgbClr val="ABC0DE"/>
                </a:solidFill>
              </a:rPr>
              <a:t>.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BD672AD5-964D-4F8A-845E-3CED91C8CF51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419350" cy="2990850"/>
          </a:xfrm>
          <a:prstGeom prst="roundRect">
            <a:avLst>
              <a:gd name="adj" fmla="val 3150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6C6716EF-ED6D-408C-B725-63F1BF4036E4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76200" cy="299085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C0DACFDF-1D32-4AA8-B0BB-EF3BB1C07865}"/>
              </a:ext>
            </a:extLst>
          </p:cNvPr>
          <p:cNvSpPr>
            <a:spLocks noGrp="1"/>
          </p:cNvSpPr>
          <p:nvPr/>
        </p:nvSpPr>
        <p:spPr>
          <a:xfrm>
            <a:off x="857249" y="2724150"/>
            <a:ext cx="1894417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EDF5FF"/>
                </a:solidFill>
              </a:defRPr>
            </a:pPr>
            <a:r>
              <a:rPr lang="sk-SK" sz="1850" b="1" noProof="0" dirty="0">
                <a:solidFill>
                  <a:srgbClr val="EDF5FF"/>
                </a:solidFill>
              </a:rPr>
              <a:t>Zdroj</a:t>
            </a:r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BA66E523-BC8F-4C56-A7EB-3C0AA07DAA83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20383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BC0DE"/>
                </a:solidFill>
              </a:defRPr>
            </a:pPr>
            <a:r>
              <a:rPr lang="sk-SK" sz="1600" b="0" noProof="0" dirty="0">
                <a:solidFill>
                  <a:srgbClr val="ABC0DE"/>
                </a:solidFill>
              </a:rPr>
              <a:t>Dotazník medzi používateľmi </a:t>
            </a:r>
          </a:p>
          <a:p>
            <a:pPr algn="l">
              <a:defRPr sz="1275" b="0">
                <a:solidFill>
                  <a:srgbClr val="ABC0DE"/>
                </a:solidFill>
              </a:defRPr>
            </a:pPr>
            <a:endParaRPr lang="sk-SK" sz="1600" dirty="0">
              <a:solidFill>
                <a:srgbClr val="ABC0DE"/>
              </a:solidFill>
            </a:endParaRPr>
          </a:p>
          <a:p>
            <a:pPr algn="l">
              <a:defRPr sz="1275" b="0">
                <a:solidFill>
                  <a:srgbClr val="ABC0DE"/>
                </a:solidFill>
              </a:defRPr>
            </a:pPr>
            <a:r>
              <a:rPr lang="sk-SK" sz="1600" b="0" noProof="0" dirty="0">
                <a:solidFill>
                  <a:srgbClr val="ABC0DE"/>
                </a:solidFill>
              </a:rPr>
              <a:t>Ľudia z okolia</a:t>
            </a:r>
          </a:p>
        </p:txBody>
      </p:sp>
      <p:sp>
        <p:nvSpPr>
          <p:cNvPr id="12" name="Obdĺžnik: zaoblené rohy 11">
            <a:extLst>
              <a:ext uri="{FF2B5EF4-FFF2-40B4-BE49-F238E27FC236}">
                <a16:creationId xmlns:a16="http://schemas.microsoft.com/office/drawing/2014/main" id="{4A6EDADF-CB73-4A12-8E6A-FDF904411400}"/>
              </a:ext>
            </a:extLst>
          </p:cNvPr>
          <p:cNvSpPr>
            <a:spLocks noGrp="1"/>
          </p:cNvSpPr>
          <p:nvPr/>
        </p:nvSpPr>
        <p:spPr>
          <a:xfrm>
            <a:off x="3486150" y="2457450"/>
            <a:ext cx="2419350" cy="2990850"/>
          </a:xfrm>
          <a:prstGeom prst="roundRect">
            <a:avLst>
              <a:gd name="adj" fmla="val 3150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3" name="Obdĺžnik 12">
            <a:extLst>
              <a:ext uri="{FF2B5EF4-FFF2-40B4-BE49-F238E27FC236}">
                <a16:creationId xmlns:a16="http://schemas.microsoft.com/office/drawing/2014/main" id="{4231CB6E-5371-4D87-8E55-D17A558C4F6E}"/>
              </a:ext>
            </a:extLst>
          </p:cNvPr>
          <p:cNvSpPr>
            <a:spLocks noGrp="1"/>
          </p:cNvSpPr>
          <p:nvPr/>
        </p:nvSpPr>
        <p:spPr>
          <a:xfrm>
            <a:off x="3486150" y="2457450"/>
            <a:ext cx="76200" cy="2990850"/>
          </a:xfrm>
          <a:prstGeom prst="rect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CFD96E5D-5A7B-4DD0-AC76-B76C9470D574}"/>
              </a:ext>
            </a:extLst>
          </p:cNvPr>
          <p:cNvSpPr>
            <a:spLocks noGrp="1"/>
          </p:cNvSpPr>
          <p:nvPr/>
        </p:nvSpPr>
        <p:spPr>
          <a:xfrm>
            <a:off x="3657599" y="2724150"/>
            <a:ext cx="1894417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EDF5FF"/>
                </a:solidFill>
              </a:defRPr>
            </a:pPr>
            <a:r>
              <a:rPr lang="sk-SK" sz="1850" b="1" noProof="0" dirty="0">
                <a:solidFill>
                  <a:srgbClr val="EDF5FF"/>
                </a:solidFill>
              </a:rPr>
              <a:t>Feedback</a:t>
            </a:r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C2D4A0A5-FAA4-4B77-AC38-4E2A4DF1C8C1}"/>
              </a:ext>
            </a:extLst>
          </p:cNvPr>
          <p:cNvSpPr>
            <a:spLocks noGrp="1"/>
          </p:cNvSpPr>
          <p:nvPr/>
        </p:nvSpPr>
        <p:spPr>
          <a:xfrm>
            <a:off x="3657600" y="3200400"/>
            <a:ext cx="20383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BC0DE"/>
                </a:solidFill>
              </a:defRPr>
            </a:pPr>
            <a:r>
              <a:rPr lang="sk-SK" sz="1600" b="0" noProof="0" dirty="0">
                <a:solidFill>
                  <a:srgbClr val="ABC0DE"/>
                </a:solidFill>
              </a:rPr>
              <a:t>Ľudia chceli hlavne rýchlosť, viac profilov, firemné údaje a minimum klikov. </a:t>
            </a:r>
          </a:p>
          <a:p>
            <a:pPr algn="l">
              <a:defRPr sz="1275" b="0">
                <a:solidFill>
                  <a:srgbClr val="ABC0DE"/>
                </a:solidFill>
              </a:defRPr>
            </a:pPr>
            <a:r>
              <a:rPr lang="sk-SK" sz="1600" dirty="0">
                <a:solidFill>
                  <a:srgbClr val="ABC0DE"/>
                </a:solidFill>
              </a:rPr>
              <a:t>Bezpečnosť dát</a:t>
            </a:r>
            <a:endParaRPr lang="sk-SK" sz="1600" b="0" noProof="0" dirty="0">
              <a:solidFill>
                <a:srgbClr val="ABC0DE"/>
              </a:solidFill>
            </a:endParaRP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09E701ED-C029-44EB-B148-BA0846804FC8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2419350" cy="2990850"/>
          </a:xfrm>
          <a:prstGeom prst="roundRect">
            <a:avLst>
              <a:gd name="adj" fmla="val 3150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7" name="Obdĺžnik 16">
            <a:extLst>
              <a:ext uri="{FF2B5EF4-FFF2-40B4-BE49-F238E27FC236}">
                <a16:creationId xmlns:a16="http://schemas.microsoft.com/office/drawing/2014/main" id="{AAFEBA1C-7599-4D42-9ED7-1FB19351FE4B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76200" cy="2990850"/>
          </a:xfrm>
          <a:prstGeom prst="rect">
            <a:avLst/>
          </a:prstGeom>
          <a:solidFill>
            <a:srgbClr val="F6C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2230519F-6120-4FB1-A552-A4A1475FDAE6}"/>
              </a:ext>
            </a:extLst>
          </p:cNvPr>
          <p:cNvSpPr>
            <a:spLocks noGrp="1"/>
          </p:cNvSpPr>
          <p:nvPr/>
        </p:nvSpPr>
        <p:spPr>
          <a:xfrm>
            <a:off x="6457949" y="2724150"/>
            <a:ext cx="1894417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EDF5FF"/>
                </a:solidFill>
              </a:defRPr>
            </a:pPr>
            <a:r>
              <a:rPr lang="sk-SK" sz="1850" b="1" noProof="0" dirty="0">
                <a:solidFill>
                  <a:srgbClr val="EDF5FF"/>
                </a:solidFill>
              </a:rPr>
              <a:t>Odpoveď</a:t>
            </a:r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2D9D23D6-1CE7-43BD-9505-57B3BD00B186}"/>
              </a:ext>
            </a:extLst>
          </p:cNvPr>
          <p:cNvSpPr>
            <a:spLocks noGrp="1"/>
          </p:cNvSpPr>
          <p:nvPr/>
        </p:nvSpPr>
        <p:spPr>
          <a:xfrm>
            <a:off x="6457950" y="3200400"/>
            <a:ext cx="20383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BC0DE"/>
                </a:solidFill>
              </a:defRPr>
            </a:pPr>
            <a:r>
              <a:rPr lang="sk-SK" sz="1600" b="0" noProof="0" dirty="0">
                <a:solidFill>
                  <a:srgbClr val="ABC0DE"/>
                </a:solidFill>
              </a:rPr>
              <a:t>Produkt sme rozšírili o širší dátový model, celý formulár na jeden klik a bezpečnostný </a:t>
            </a:r>
            <a:r>
              <a:rPr lang="sk-SK" sz="1600" b="0" noProof="0" dirty="0" err="1">
                <a:solidFill>
                  <a:srgbClr val="ABC0DE"/>
                </a:solidFill>
              </a:rPr>
              <a:t>hardening</a:t>
            </a:r>
            <a:r>
              <a:rPr lang="sk-SK" sz="1600" b="0" noProof="0" dirty="0">
                <a:solidFill>
                  <a:srgbClr val="ABC0DE"/>
                </a:solidFill>
              </a:rPr>
              <a:t> citlivých údajov.</a:t>
            </a: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2F39903D-F03F-42E2-91A2-D249AD62851A}"/>
              </a:ext>
            </a:extLst>
          </p:cNvPr>
          <p:cNvSpPr>
            <a:spLocks noGrp="1"/>
          </p:cNvSpPr>
          <p:nvPr/>
        </p:nvSpPr>
        <p:spPr>
          <a:xfrm>
            <a:off x="9086850" y="2457450"/>
            <a:ext cx="2419350" cy="2990850"/>
          </a:xfrm>
          <a:prstGeom prst="roundRect">
            <a:avLst>
              <a:gd name="adj" fmla="val 3150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1C82A6A6-E689-4CD4-B99D-63B16FDFE285}"/>
              </a:ext>
            </a:extLst>
          </p:cNvPr>
          <p:cNvSpPr>
            <a:spLocks noGrp="1"/>
          </p:cNvSpPr>
          <p:nvPr/>
        </p:nvSpPr>
        <p:spPr>
          <a:xfrm>
            <a:off x="9086850" y="2457450"/>
            <a:ext cx="76200" cy="2990850"/>
          </a:xfrm>
          <a:prstGeom prst="rect">
            <a:avLst/>
          </a:prstGeom>
          <a:solidFill>
            <a:srgbClr val="FF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F434ED9F-D6D3-4155-B61F-597B21A8499D}"/>
              </a:ext>
            </a:extLst>
          </p:cNvPr>
          <p:cNvSpPr>
            <a:spLocks noGrp="1"/>
          </p:cNvSpPr>
          <p:nvPr/>
        </p:nvSpPr>
        <p:spPr>
          <a:xfrm>
            <a:off x="9258299" y="2724150"/>
            <a:ext cx="1894417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EDF5FF"/>
                </a:solidFill>
              </a:defRPr>
            </a:pPr>
            <a:r>
              <a:rPr lang="sk-SK" sz="1850" b="1" noProof="0" dirty="0">
                <a:solidFill>
                  <a:srgbClr val="EDF5FF"/>
                </a:solidFill>
              </a:rPr>
              <a:t>Ponaučenie</a:t>
            </a:r>
          </a:p>
        </p:txBody>
      </p:sp>
      <p:sp>
        <p:nvSpPr>
          <p:cNvPr id="23" name="Obdĺžnik 22">
            <a:extLst>
              <a:ext uri="{FF2B5EF4-FFF2-40B4-BE49-F238E27FC236}">
                <a16:creationId xmlns:a16="http://schemas.microsoft.com/office/drawing/2014/main" id="{4692D92E-320B-4E80-8914-72D5F4ACD9B6}"/>
              </a:ext>
            </a:extLst>
          </p:cNvPr>
          <p:cNvSpPr>
            <a:spLocks noGrp="1"/>
          </p:cNvSpPr>
          <p:nvPr/>
        </p:nvSpPr>
        <p:spPr>
          <a:xfrm>
            <a:off x="9258300" y="3200400"/>
            <a:ext cx="20383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BC0DE"/>
                </a:solidFill>
              </a:defRPr>
            </a:pPr>
            <a:r>
              <a:rPr lang="sk-SK" sz="1600" b="0" noProof="0" dirty="0">
                <a:solidFill>
                  <a:srgbClr val="ABC0DE"/>
                </a:solidFill>
              </a:rPr>
              <a:t>Najväčšiu hodnotu netvorí množstvo funkcií, ale jasný </a:t>
            </a:r>
            <a:r>
              <a:rPr lang="sk-SK" sz="1600" b="0" noProof="0" dirty="0" err="1">
                <a:solidFill>
                  <a:srgbClr val="ABC0DE"/>
                </a:solidFill>
              </a:rPr>
              <a:t>flow</a:t>
            </a:r>
            <a:r>
              <a:rPr lang="sk-SK" sz="1600" b="0" noProof="0" dirty="0">
                <a:solidFill>
                  <a:srgbClr val="ABC0DE"/>
                </a:solidFill>
              </a:rPr>
              <a:t>: </a:t>
            </a:r>
            <a:r>
              <a:rPr lang="sk-SK" sz="1600" b="0" noProof="0" dirty="0" err="1">
                <a:solidFill>
                  <a:srgbClr val="ABC0DE"/>
                </a:solidFill>
              </a:rPr>
              <a:t>fokus</a:t>
            </a:r>
            <a:r>
              <a:rPr lang="sk-SK" sz="1600" b="0" noProof="0" dirty="0">
                <a:solidFill>
                  <a:srgbClr val="ABC0DE"/>
                </a:solidFill>
              </a:rPr>
              <a:t> na pole, výber profilu, hotovo.</a:t>
            </a:r>
          </a:p>
          <a:p>
            <a:pPr algn="l">
              <a:defRPr sz="1275" b="0">
                <a:solidFill>
                  <a:srgbClr val="ABC0DE"/>
                </a:solidFill>
              </a:defRPr>
            </a:pPr>
            <a:r>
              <a:rPr lang="sk-SK" sz="1600" dirty="0">
                <a:solidFill>
                  <a:srgbClr val="ABC0DE"/>
                </a:solidFill>
              </a:rPr>
              <a:t>Viac údajov o osobe.</a:t>
            </a:r>
            <a:endParaRPr lang="sk-SK" sz="1600" b="0" noProof="0" dirty="0">
              <a:solidFill>
                <a:srgbClr val="ABC0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725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sk-SK" noProof="0" dirty="0"/>
          </a:p>
        </p:txBody>
      </p:sp>
      <p:sp>
        <p:nvSpPr>
          <p:cNvPr id="2" name="Ovál 1">
            <a:extLst>
              <a:ext uri="{FF2B5EF4-FFF2-40B4-BE49-F238E27FC236}">
                <a16:creationId xmlns:a16="http://schemas.microsoft.com/office/drawing/2014/main" id="{9FF8402C-DAAF-4C87-AC55-4F7742B5A578}"/>
              </a:ext>
            </a:extLst>
          </p:cNvPr>
          <p:cNvSpPr>
            <a:spLocks noGrp="1"/>
          </p:cNvSpPr>
          <p:nvPr/>
        </p:nvSpPr>
        <p:spPr>
          <a:xfrm>
            <a:off x="-762000" y="-1143000"/>
            <a:ext cx="4000500" cy="4000500"/>
          </a:xfrm>
          <a:prstGeom prst="ellipse">
            <a:avLst/>
          </a:prstGeom>
          <a:solidFill>
            <a:srgbClr val="57A8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3" name="Ovál 2">
            <a:extLst>
              <a:ext uri="{FF2B5EF4-FFF2-40B4-BE49-F238E27FC236}">
                <a16:creationId xmlns:a16="http://schemas.microsoft.com/office/drawing/2014/main" id="{1D8C9E53-9808-4354-A780-BFCF1B2834A9}"/>
              </a:ext>
            </a:extLst>
          </p:cNvPr>
          <p:cNvSpPr>
            <a:spLocks noGrp="1"/>
          </p:cNvSpPr>
          <p:nvPr/>
        </p:nvSpPr>
        <p:spPr>
          <a:xfrm>
            <a:off x="9144000" y="-1047750"/>
            <a:ext cx="3429000" cy="3429000"/>
          </a:xfrm>
          <a:prstGeom prst="ellipse">
            <a:avLst/>
          </a:prstGeom>
          <a:solidFill>
            <a:srgbClr val="7FE0BE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8793CE5F-59CD-4407-9C12-EA186484A3D0}"/>
              </a:ext>
            </a:extLst>
          </p:cNvPr>
          <p:cNvSpPr>
            <a:spLocks noGrp="1"/>
          </p:cNvSpPr>
          <p:nvPr/>
        </p:nvSpPr>
        <p:spPr>
          <a:xfrm>
            <a:off x="8191500" y="4762500"/>
            <a:ext cx="3238500" cy="2095500"/>
          </a:xfrm>
          <a:prstGeom prst="ellipse">
            <a:avLst/>
          </a:prstGeom>
          <a:solidFill>
            <a:srgbClr val="57A8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5" name="Obdĺžnik: zaoblené rohy 4">
            <a:extLst>
              <a:ext uri="{FF2B5EF4-FFF2-40B4-BE49-F238E27FC236}">
                <a16:creationId xmlns:a16="http://schemas.microsoft.com/office/drawing/2014/main" id="{FE8FDCFD-C839-4402-B239-D471D7B09A42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5829300"/>
          </a:xfrm>
          <a:prstGeom prst="roundRect">
            <a:avLst>
              <a:gd name="adj" fmla="val 1307"/>
            </a:avLst>
          </a:prstGeom>
          <a:solidFill>
            <a:srgbClr val="0F1B2D">
              <a:alpha val="92941"/>
            </a:srgbClr>
          </a:solidFill>
          <a:ln w="13335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0ADFF5F6-706B-4EE7-93D5-8E0C333829F9}"/>
              </a:ext>
            </a:extLst>
          </p:cNvPr>
          <p:cNvSpPr>
            <a:spLocks noGrp="1"/>
          </p:cNvSpPr>
          <p:nvPr/>
        </p:nvSpPr>
        <p:spPr>
          <a:xfrm>
            <a:off x="5905500" y="1123950"/>
            <a:ext cx="438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EDF5FF"/>
                </a:solidFill>
              </a:defRPr>
            </a:pPr>
            <a:r>
              <a:rPr lang="sk-SK" sz="3150" b="1" noProof="0" dirty="0">
                <a:solidFill>
                  <a:srgbClr val="EDF5FF"/>
                </a:solidFill>
              </a:rPr>
              <a:t>Vyskúšaj </a:t>
            </a:r>
            <a:r>
              <a:rPr lang="sk-SK" sz="3150" b="1" noProof="0" dirty="0" err="1">
                <a:solidFill>
                  <a:srgbClr val="EDF5FF"/>
                </a:solidFill>
              </a:rPr>
              <a:t>FORMeGO</a:t>
            </a:r>
            <a:endParaRPr lang="sk-SK" sz="3150" b="1" noProof="0" dirty="0">
              <a:solidFill>
                <a:srgbClr val="EDF5FF"/>
              </a:solidFill>
            </a:endParaRPr>
          </a:p>
        </p:txBody>
      </p:sp>
      <p:sp>
        <p:nvSpPr>
          <p:cNvPr id="7" name="Obdĺžnik 6">
            <a:extLst>
              <a:ext uri="{FF2B5EF4-FFF2-40B4-BE49-F238E27FC236}">
                <a16:creationId xmlns:a16="http://schemas.microsoft.com/office/drawing/2014/main" id="{C94D55A1-FFC5-4188-A056-C247330B48A6}"/>
              </a:ext>
            </a:extLst>
          </p:cNvPr>
          <p:cNvSpPr>
            <a:spLocks noGrp="1"/>
          </p:cNvSpPr>
          <p:nvPr/>
        </p:nvSpPr>
        <p:spPr>
          <a:xfrm>
            <a:off x="5924550" y="1790700"/>
            <a:ext cx="4648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ABC0DE"/>
                </a:solidFill>
              </a:defRPr>
            </a:pPr>
            <a:r>
              <a:rPr lang="sk-SK" sz="1575" b="0" noProof="0" dirty="0">
                <a:solidFill>
                  <a:srgbClr val="ABC0DE"/>
                </a:solidFill>
              </a:rPr>
              <a:t>Naskenuj QR kód a otvor </a:t>
            </a:r>
            <a:r>
              <a:rPr lang="sk-SK" sz="1575" b="0" noProof="0" dirty="0" err="1">
                <a:solidFill>
                  <a:srgbClr val="ABC0DE"/>
                </a:solidFill>
              </a:rPr>
              <a:t>GitHub</a:t>
            </a:r>
            <a:r>
              <a:rPr lang="sk-SK" sz="1575" b="0" noProof="0" dirty="0">
                <a:solidFill>
                  <a:srgbClr val="ABC0DE"/>
                </a:solidFill>
              </a:rPr>
              <a:t> </a:t>
            </a:r>
            <a:r>
              <a:rPr lang="sk-SK" sz="1575" b="0" noProof="0" dirty="0" err="1">
                <a:solidFill>
                  <a:srgbClr val="ABC0DE"/>
                </a:solidFill>
              </a:rPr>
              <a:t>Pages</a:t>
            </a:r>
            <a:r>
              <a:rPr lang="sk-SK" sz="1575" b="0" noProof="0" dirty="0">
                <a:solidFill>
                  <a:srgbClr val="ABC0DE"/>
                </a:solidFill>
              </a:rPr>
              <a:t> prezentáciu alebo repozitár so zdrojovým kódom.</a:t>
            </a:r>
          </a:p>
        </p:txBody>
      </p:sp>
      <p:sp>
        <p:nvSpPr>
          <p:cNvPr id="8" name="Obdĺžnik: zaoblené rohy 7">
            <a:extLst>
              <a:ext uri="{FF2B5EF4-FFF2-40B4-BE49-F238E27FC236}">
                <a16:creationId xmlns:a16="http://schemas.microsoft.com/office/drawing/2014/main" id="{CB038B1A-7E97-4368-99AE-058AB1CC3C84}"/>
              </a:ext>
            </a:extLst>
          </p:cNvPr>
          <p:cNvSpPr>
            <a:spLocks noGrp="1"/>
          </p:cNvSpPr>
          <p:nvPr/>
        </p:nvSpPr>
        <p:spPr>
          <a:xfrm>
            <a:off x="952500" y="1104900"/>
            <a:ext cx="4000500" cy="4000500"/>
          </a:xfrm>
          <a:prstGeom prst="roundRect">
            <a:avLst>
              <a:gd name="adj" fmla="val 1905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70B98091-8374-4760-A62F-E8F240BC378A}"/>
              </a:ext>
            </a:extLst>
          </p:cNvPr>
          <p:cNvSpPr>
            <a:spLocks noGrp="1"/>
          </p:cNvSpPr>
          <p:nvPr/>
        </p:nvSpPr>
        <p:spPr>
          <a:xfrm>
            <a:off x="952500" y="1104900"/>
            <a:ext cx="76200" cy="40005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0" name="Obdĺžnik: zaoblené rohy 9">
            <a:extLst>
              <a:ext uri="{FF2B5EF4-FFF2-40B4-BE49-F238E27FC236}">
                <a16:creationId xmlns:a16="http://schemas.microsoft.com/office/drawing/2014/main" id="{8DE12C30-F656-4664-89DE-EE469D5EEB93}"/>
              </a:ext>
            </a:extLst>
          </p:cNvPr>
          <p:cNvSpPr>
            <a:spLocks noGrp="1"/>
          </p:cNvSpPr>
          <p:nvPr/>
        </p:nvSpPr>
        <p:spPr>
          <a:xfrm>
            <a:off x="1409700" y="1524000"/>
            <a:ext cx="3086100" cy="30861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pic>
        <p:nvPicPr>
          <p:cNvPr id="11" name="Obrázok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38300" y="1752600"/>
            <a:ext cx="2628900" cy="2628900"/>
          </a:xfrm>
          <a:prstGeom prst="rect">
            <a:avLst/>
          </a:prstGeom>
        </p:spPr>
      </p:pic>
      <p:sp>
        <p:nvSpPr>
          <p:cNvPr id="12" name="Obdĺžnik 11">
            <a:extLst>
              <a:ext uri="{FF2B5EF4-FFF2-40B4-BE49-F238E27FC236}">
                <a16:creationId xmlns:a16="http://schemas.microsoft.com/office/drawing/2014/main" id="{F50948E3-09B1-47AB-B972-4D02B46AFE9A}"/>
              </a:ext>
            </a:extLst>
          </p:cNvPr>
          <p:cNvSpPr>
            <a:spLocks noGrp="1"/>
          </p:cNvSpPr>
          <p:nvPr/>
        </p:nvSpPr>
        <p:spPr>
          <a:xfrm>
            <a:off x="952500" y="52959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7FE0BE"/>
                </a:solidFill>
              </a:defRPr>
            </a:pPr>
            <a:r>
              <a:rPr lang="sk-SK" sz="1350" b="1" noProof="0" dirty="0" err="1">
                <a:solidFill>
                  <a:srgbClr val="7FE0BE"/>
                </a:solidFill>
              </a:rPr>
              <a:t>GitHub</a:t>
            </a:r>
            <a:r>
              <a:rPr lang="sk-SK" sz="1350" b="1" noProof="0" dirty="0">
                <a:solidFill>
                  <a:srgbClr val="7FE0BE"/>
                </a:solidFill>
              </a:rPr>
              <a:t> </a:t>
            </a:r>
            <a:r>
              <a:rPr lang="sk-SK" sz="1350" b="1" noProof="0" dirty="0" err="1">
                <a:solidFill>
                  <a:srgbClr val="7FE0BE"/>
                </a:solidFill>
              </a:rPr>
              <a:t>Page</a:t>
            </a:r>
            <a:endParaRPr lang="sk-SK" sz="1350" b="1" noProof="0" dirty="0">
              <a:solidFill>
                <a:srgbClr val="7FE0BE"/>
              </a:solidFill>
            </a:endParaRPr>
          </a:p>
        </p:txBody>
      </p:sp>
      <p:sp>
        <p:nvSpPr>
          <p:cNvPr id="13" name="Obdĺžnik: zaoblené rohy 12">
            <a:extLst>
              <a:ext uri="{FF2B5EF4-FFF2-40B4-BE49-F238E27FC236}">
                <a16:creationId xmlns:a16="http://schemas.microsoft.com/office/drawing/2014/main" id="{679C3141-3BF6-490D-86AB-C522C4D30DCE}"/>
              </a:ext>
            </a:extLst>
          </p:cNvPr>
          <p:cNvSpPr>
            <a:spLocks noGrp="1"/>
          </p:cNvSpPr>
          <p:nvPr/>
        </p:nvSpPr>
        <p:spPr>
          <a:xfrm>
            <a:off x="5905500" y="2895600"/>
            <a:ext cx="4857750" cy="838200"/>
          </a:xfrm>
          <a:prstGeom prst="roundRect">
            <a:avLst>
              <a:gd name="adj" fmla="val 9091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F4C93539-F876-4804-8FA5-35DAB8C4EC38}"/>
              </a:ext>
            </a:extLst>
          </p:cNvPr>
          <p:cNvSpPr>
            <a:spLocks noGrp="1"/>
          </p:cNvSpPr>
          <p:nvPr/>
        </p:nvSpPr>
        <p:spPr>
          <a:xfrm>
            <a:off x="5905500" y="2895600"/>
            <a:ext cx="76200" cy="838200"/>
          </a:xfrm>
          <a:prstGeom prst="rect">
            <a:avLst/>
          </a:prstGeom>
          <a:solidFill>
            <a:srgbClr val="7FE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8B398A34-F4CE-4365-94A7-A8FBEC6FA74E}"/>
              </a:ext>
            </a:extLst>
          </p:cNvPr>
          <p:cNvSpPr>
            <a:spLocks noGrp="1"/>
          </p:cNvSpPr>
          <p:nvPr/>
        </p:nvSpPr>
        <p:spPr>
          <a:xfrm>
            <a:off x="6153150" y="31813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247" lnSpcReduction="10000"/>
          </a:bodyPr>
          <a:lstStyle/>
          <a:p>
            <a:pPr algn="l">
              <a:defRPr sz="1800" b="1">
                <a:solidFill>
                  <a:srgbClr val="EDF5FF"/>
                </a:solidFill>
              </a:defRPr>
            </a:pPr>
            <a:r>
              <a:rPr lang="sk-SK" sz="1800" b="1" noProof="0" dirty="0">
                <a:solidFill>
                  <a:srgbClr val="EDF5FF"/>
                </a:solidFill>
              </a:rPr>
              <a:t>simoncalik.github.io/</a:t>
            </a:r>
            <a:r>
              <a:rPr lang="sk-SK" sz="1800" b="1" noProof="0" dirty="0" err="1">
                <a:solidFill>
                  <a:srgbClr val="EDF5FF"/>
                </a:solidFill>
              </a:rPr>
              <a:t>FORMeGO</a:t>
            </a:r>
            <a:endParaRPr lang="sk-SK" sz="1800" b="1" noProof="0" dirty="0">
              <a:solidFill>
                <a:srgbClr val="EDF5FF"/>
              </a:solidFill>
            </a:endParaRPr>
          </a:p>
        </p:txBody>
      </p:sp>
      <p:sp>
        <p:nvSpPr>
          <p:cNvPr id="16" name="Obdĺžnik: zaoblené rohy 15">
            <a:extLst>
              <a:ext uri="{FF2B5EF4-FFF2-40B4-BE49-F238E27FC236}">
                <a16:creationId xmlns:a16="http://schemas.microsoft.com/office/drawing/2014/main" id="{6E0E8EFF-529F-4880-AB2B-298E7FC09D2E}"/>
              </a:ext>
            </a:extLst>
          </p:cNvPr>
          <p:cNvSpPr>
            <a:spLocks noGrp="1"/>
          </p:cNvSpPr>
          <p:nvPr/>
        </p:nvSpPr>
        <p:spPr>
          <a:xfrm>
            <a:off x="5905500" y="3962400"/>
            <a:ext cx="4857750" cy="838200"/>
          </a:xfrm>
          <a:prstGeom prst="roundRect">
            <a:avLst>
              <a:gd name="adj" fmla="val 9091"/>
            </a:avLst>
          </a:prstGeom>
          <a:solidFill>
            <a:srgbClr val="102038">
              <a:alpha val="90980"/>
            </a:srgbClr>
          </a:solidFill>
          <a:ln w="11430">
            <a:solidFill>
              <a:srgbClr val="84ABE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7" name="Obdĺžnik 16">
            <a:extLst>
              <a:ext uri="{FF2B5EF4-FFF2-40B4-BE49-F238E27FC236}">
                <a16:creationId xmlns:a16="http://schemas.microsoft.com/office/drawing/2014/main" id="{F078C84E-BA3E-4156-BF60-E3503BAAE30F}"/>
              </a:ext>
            </a:extLst>
          </p:cNvPr>
          <p:cNvSpPr>
            <a:spLocks noGrp="1"/>
          </p:cNvSpPr>
          <p:nvPr/>
        </p:nvSpPr>
        <p:spPr>
          <a:xfrm>
            <a:off x="5905500" y="3962400"/>
            <a:ext cx="76200" cy="838200"/>
          </a:xfrm>
          <a:prstGeom prst="rect">
            <a:avLst/>
          </a:prstGeom>
          <a:solidFill>
            <a:srgbClr val="57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sk-SK" noProof="0" dirty="0"/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EEFC1398-B0EE-4186-9A90-DBEA321AECD2}"/>
              </a:ext>
            </a:extLst>
          </p:cNvPr>
          <p:cNvSpPr>
            <a:spLocks noGrp="1"/>
          </p:cNvSpPr>
          <p:nvPr/>
        </p:nvSpPr>
        <p:spPr>
          <a:xfrm>
            <a:off x="6153150" y="424815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247" lnSpcReduction="10000"/>
          </a:bodyPr>
          <a:lstStyle/>
          <a:p>
            <a:pPr algn="l">
              <a:defRPr sz="1800" b="1">
                <a:solidFill>
                  <a:srgbClr val="EDF5FF"/>
                </a:solidFill>
              </a:defRPr>
            </a:pPr>
            <a:r>
              <a:rPr lang="sk-SK" sz="1800" b="1" noProof="0" dirty="0">
                <a:solidFill>
                  <a:srgbClr val="EDF5FF"/>
                </a:solidFill>
              </a:rPr>
              <a:t>github.com/</a:t>
            </a:r>
            <a:r>
              <a:rPr lang="sk-SK" sz="1800" b="1" noProof="0" dirty="0" err="1">
                <a:solidFill>
                  <a:srgbClr val="EDF5FF"/>
                </a:solidFill>
              </a:rPr>
              <a:t>SimonCalik</a:t>
            </a:r>
            <a:r>
              <a:rPr lang="sk-SK" sz="1800" b="1" noProof="0" dirty="0">
                <a:solidFill>
                  <a:srgbClr val="EDF5FF"/>
                </a:solidFill>
              </a:rPr>
              <a:t>/</a:t>
            </a:r>
            <a:r>
              <a:rPr lang="sk-SK" sz="1800" b="1" noProof="0" dirty="0" err="1">
                <a:solidFill>
                  <a:srgbClr val="EDF5FF"/>
                </a:solidFill>
              </a:rPr>
              <a:t>FORMeGO</a:t>
            </a:r>
            <a:endParaRPr lang="sk-SK" sz="1800" b="1" noProof="0" dirty="0">
              <a:solidFill>
                <a:srgbClr val="EDF5FF"/>
              </a:solidFill>
            </a:endParaRPr>
          </a:p>
        </p:txBody>
      </p:sp>
      <p:sp>
        <p:nvSpPr>
          <p:cNvPr id="19" name="Obdĺžnik: zaoblené rohy 18">
            <a:extLst>
              <a:ext uri="{FF2B5EF4-FFF2-40B4-BE49-F238E27FC236}">
                <a16:creationId xmlns:a16="http://schemas.microsoft.com/office/drawing/2014/main" id="{ED921818-8898-4462-BD46-60C5AC4EBCEA}"/>
              </a:ext>
            </a:extLst>
          </p:cNvPr>
          <p:cNvSpPr>
            <a:spLocks noGrp="1"/>
          </p:cNvSpPr>
          <p:nvPr/>
        </p:nvSpPr>
        <p:spPr>
          <a:xfrm>
            <a:off x="5905500" y="5162550"/>
            <a:ext cx="1390650" cy="361950"/>
          </a:xfrm>
          <a:prstGeom prst="roundRect">
            <a:avLst>
              <a:gd name="adj" fmla="val 21053"/>
            </a:avLst>
          </a:prstGeom>
          <a:solidFill>
            <a:srgbClr val="173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 err="1">
                <a:solidFill>
                  <a:srgbClr val="EDF5FF"/>
                </a:solidFill>
              </a:rPr>
              <a:t>GitHub</a:t>
            </a:r>
            <a:r>
              <a:rPr lang="sk-SK" sz="1125" b="1" noProof="0" dirty="0">
                <a:solidFill>
                  <a:srgbClr val="EDF5FF"/>
                </a:solidFill>
              </a:rPr>
              <a:t> </a:t>
            </a:r>
            <a:r>
              <a:rPr lang="sk-SK" sz="1125" b="1" noProof="0" dirty="0" err="1">
                <a:solidFill>
                  <a:srgbClr val="EDF5FF"/>
                </a:solidFill>
              </a:rPr>
              <a:t>Pages</a:t>
            </a:r>
            <a:endParaRPr lang="sk-SK" sz="1125" b="1" noProof="0" dirty="0">
              <a:solidFill>
                <a:srgbClr val="EDF5FF"/>
              </a:solidFill>
            </a:endParaRPr>
          </a:p>
        </p:txBody>
      </p:sp>
      <p:sp>
        <p:nvSpPr>
          <p:cNvPr id="20" name="Obdĺžnik: zaoblené rohy 19">
            <a:extLst>
              <a:ext uri="{FF2B5EF4-FFF2-40B4-BE49-F238E27FC236}">
                <a16:creationId xmlns:a16="http://schemas.microsoft.com/office/drawing/2014/main" id="{AF62EB42-47D7-4543-B085-EBD68AA11436}"/>
              </a:ext>
            </a:extLst>
          </p:cNvPr>
          <p:cNvSpPr>
            <a:spLocks noGrp="1"/>
          </p:cNvSpPr>
          <p:nvPr/>
        </p:nvSpPr>
        <p:spPr>
          <a:xfrm>
            <a:off x="7429500" y="51625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1538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>
                <a:solidFill>
                  <a:srgbClr val="EDF5FF"/>
                </a:solidFill>
              </a:rPr>
              <a:t>ZIP download</a:t>
            </a:r>
          </a:p>
        </p:txBody>
      </p:sp>
      <p:sp>
        <p:nvSpPr>
          <p:cNvPr id="21" name="Obdĺžnik: zaoblené rohy 20">
            <a:extLst>
              <a:ext uri="{FF2B5EF4-FFF2-40B4-BE49-F238E27FC236}">
                <a16:creationId xmlns:a16="http://schemas.microsoft.com/office/drawing/2014/main" id="{015A47BA-6FE4-4390-9DD6-30877E7F0AA5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1581150" cy="361950"/>
          </a:xfrm>
          <a:prstGeom prst="roundRect">
            <a:avLst>
              <a:gd name="adj" fmla="val 21053"/>
            </a:avLst>
          </a:prstGeom>
          <a:solidFill>
            <a:srgbClr val="1B32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EDF5FF"/>
                </a:solidFill>
              </a:defRPr>
            </a:pPr>
            <a:r>
              <a:rPr lang="sk-SK" sz="1125" b="1" noProof="0" dirty="0" err="1">
                <a:solidFill>
                  <a:srgbClr val="EDF5FF"/>
                </a:solidFill>
              </a:rPr>
              <a:t>Load</a:t>
            </a:r>
            <a:r>
              <a:rPr lang="sk-SK" sz="1125" b="1" noProof="0" dirty="0">
                <a:solidFill>
                  <a:srgbClr val="EDF5FF"/>
                </a:solidFill>
              </a:rPr>
              <a:t> </a:t>
            </a:r>
            <a:r>
              <a:rPr lang="sk-SK" sz="1125" b="1" noProof="0" dirty="0" err="1">
                <a:solidFill>
                  <a:srgbClr val="EDF5FF"/>
                </a:solidFill>
              </a:rPr>
              <a:t>unpacked</a:t>
            </a:r>
            <a:endParaRPr lang="sk-SK" sz="1125" b="1" noProof="0" dirty="0">
              <a:solidFill>
                <a:srgbClr val="EDF5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1805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923</Words>
  <Application>Microsoft Office PowerPoint</Application>
  <DocSecurity>0</DocSecurity>
  <PresentationFormat>Širokouhlá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Použité písma</vt:lpstr>
      </vt:variant>
      <vt:variant>
        <vt:i4>1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Šimon Čálik</cp:lastModifiedBy>
  <cp:revision>7</cp:revision>
  <dcterms:created xsi:type="dcterms:W3CDTF">2026-04-25T11:54:28Z</dcterms:created>
  <dcterms:modified xsi:type="dcterms:W3CDTF">2026-04-27T13:00:30Z</dcterms:modified>
</cp:coreProperties>
</file>