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ad148331334ca8" /><Relationship Type="http://schemas.openxmlformats.org/officeDocument/2006/relationships/extended-properties" Target="/docProps/app.xml" Id="R1a8647ebe7824f03" /><Relationship Type="http://schemas.openxmlformats.org/officeDocument/2006/relationships/officeDocument" Target="/ppt/presentation.xml" Id="Raaffae37d55e46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a24fc03ab34c05"/>
  </p:sldMasterIdLst>
  <p:notesMasterIdLst>
    <p:notesMasterId xmlns:r="http://schemas.openxmlformats.org/officeDocument/2006/relationships" r:id="R8e623f0aa98646e5"/>
  </p:notesMasterIdLst>
  <p:sldIdLst>
    <p:sldId xmlns:r="http://schemas.openxmlformats.org/officeDocument/2006/relationships" id="256" r:id="Rbdea26b346804e9d"/>
    <p:sldId xmlns:r="http://schemas.openxmlformats.org/officeDocument/2006/relationships" id="257" r:id="R61440a6acb2d4ed7"/>
    <p:sldId xmlns:r="http://schemas.openxmlformats.org/officeDocument/2006/relationships" id="258" r:id="Rc4893b1e72f24492"/>
    <p:sldId xmlns:r="http://schemas.openxmlformats.org/officeDocument/2006/relationships" id="259" r:id="R5e7deebc74ec473e"/>
    <p:sldId xmlns:r="http://schemas.openxmlformats.org/officeDocument/2006/relationships" id="260" r:id="R47bae1f991124085"/>
    <p:sldId xmlns:r="http://schemas.openxmlformats.org/officeDocument/2006/relationships" id="261" r:id="R6eee2a61072143c5"/>
    <p:sldId xmlns:r="http://schemas.openxmlformats.org/officeDocument/2006/relationships" id="262" r:id="R8584169338494e9b"/>
    <p:sldId xmlns:r="http://schemas.openxmlformats.org/officeDocument/2006/relationships" id="263" r:id="R3c284085d5064fb4"/>
    <p:sldId xmlns:r="http://schemas.openxmlformats.org/officeDocument/2006/relationships" id="264" r:id="Ree1fe7cf553446c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a24fc03ab34c05" /><Relationship Type="http://schemas.openxmlformats.org/officeDocument/2006/relationships/theme" Target="/ppt/theme/theme1.xml" Id="R5fa893a0942b4a2c" /><Relationship Type="http://schemas.openxmlformats.org/officeDocument/2006/relationships/notesMaster" Target="/ppt/notesMasters/notesMaster1.xml" Id="R8e623f0aa98646e5" /><Relationship Type="http://schemas.openxmlformats.org/officeDocument/2006/relationships/presProps" Target="/ppt/presProps.xml" Id="R82a1d069102a4164" /><Relationship Type="http://schemas.openxmlformats.org/officeDocument/2006/relationships/viewProps" Target="/ppt/viewProps.xml" Id="Rb40f1bac064d4cff" /><Relationship Type="http://schemas.openxmlformats.org/officeDocument/2006/relationships/tableStyles" Target="/ppt/tableStyles.xml" Id="R79dde1b5b9b8494c" /><Relationship Type="http://schemas.openxmlformats.org/officeDocument/2006/relationships/slide" Target="/ppt/slides/slide1.xml" Id="Rbdea26b346804e9d" /><Relationship Type="http://schemas.openxmlformats.org/officeDocument/2006/relationships/slide" Target="/ppt/slides/slide2.xml" Id="R61440a6acb2d4ed7" /><Relationship Type="http://schemas.openxmlformats.org/officeDocument/2006/relationships/slide" Target="/ppt/slides/slide3.xml" Id="Rc4893b1e72f24492" /><Relationship Type="http://schemas.openxmlformats.org/officeDocument/2006/relationships/slide" Target="/ppt/slides/slide4.xml" Id="R5e7deebc74ec473e" /><Relationship Type="http://schemas.openxmlformats.org/officeDocument/2006/relationships/slide" Target="/ppt/slides/slide5.xml" Id="R47bae1f991124085" /><Relationship Type="http://schemas.openxmlformats.org/officeDocument/2006/relationships/slide" Target="/ppt/slides/slide6.xml" Id="R6eee2a61072143c5" /><Relationship Type="http://schemas.openxmlformats.org/officeDocument/2006/relationships/slide" Target="/ppt/slides/slide7.xml" Id="R8584169338494e9b" /><Relationship Type="http://schemas.openxmlformats.org/officeDocument/2006/relationships/slide" Target="/ppt/slides/slide8.xml" Id="R3c284085d5064fb4" /><Relationship Type="http://schemas.openxmlformats.org/officeDocument/2006/relationships/slide" Target="/ppt/slides/slide9.xml" Id="Ree1fe7cf553446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aa8dd7f914546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c4bf43b3434b96" /><Relationship Type="http://schemas.openxmlformats.org/officeDocument/2006/relationships/notesMaster" Target="/ppt/notesMasters/notesMaster1.xml" Id="R8fdb871ab7ce46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0476e3c6a54f26" /><Relationship Type="http://schemas.openxmlformats.org/officeDocument/2006/relationships/notesMaster" Target="/ppt/notesMasters/notesMaster1.xml" Id="R7abf440e6b1040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a18a925e184e18" /><Relationship Type="http://schemas.openxmlformats.org/officeDocument/2006/relationships/notesMaster" Target="/ppt/notesMasters/notesMaster1.xml" Id="R1cc8895777f84e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c58e1e9301499d" /><Relationship Type="http://schemas.openxmlformats.org/officeDocument/2006/relationships/notesMaster" Target="/ppt/notesMasters/notesMaster1.xml" Id="Rc8d185230dbf44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c5c5f2ec304b9d" /><Relationship Type="http://schemas.openxmlformats.org/officeDocument/2006/relationships/notesMaster" Target="/ppt/notesMasters/notesMaster1.xml" Id="R0e5aaa2bd07548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16faca594546e0" /><Relationship Type="http://schemas.openxmlformats.org/officeDocument/2006/relationships/notesMaster" Target="/ppt/notesMasters/notesMaster1.xml" Id="R046bf40aafce40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f18e32a21344fd" /><Relationship Type="http://schemas.openxmlformats.org/officeDocument/2006/relationships/notesMaster" Target="/ppt/notesMasters/notesMaster1.xml" Id="R3c941e001aa14e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d830e1d6ec49fd" /><Relationship Type="http://schemas.openxmlformats.org/officeDocument/2006/relationships/notesMaster" Target="/ppt/notesMasters/notesMaster1.xml" Id="Redc3c5d4002443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b8d973ef8a4a41" /><Relationship Type="http://schemas.openxmlformats.org/officeDocument/2006/relationships/notesMaster" Target="/ppt/notesMasters/notesMaster1.xml" Id="R8c7b0b6c31964e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FORMeGO je Chrome a Edge rozšírenie na rýchle vypĺňanie formulárov. Slide predstavuje identitu produktu, autora, predmet a vizuálny jazyk.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 tomto slide vysvetlím problém, cieľového používateľa a riešenie. Pointa: FORMeGO šetrí čas a znižuje frustráciu z opakovaného vypĺňania formulárov.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Výsledky dotazníka: 100 % respondentov označilo nápad za dobrý a 100 % by chcelo takúto extension. Zároveň 57,1 % doteraz nemalo podobnú alternatívu, čo potvrdzuje priestor na jednoduché riešenie.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 je postavené na tom, aby používateľ vedel vytvoriť profil, vybrať ho pri formulári a jedným klikom doplniť údaje. Väčšina user stories je hotová, zvyšok sú skôr UX rozšírenia.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Tunel ukazuje cestu používateľa: od prezentačnej stránky cez stiahnutie ZIP balíka až po reálne spustenie rozšírenia cez Load unpacked.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 ukážem samotnú aplikáciu: options page, odomykanie šifrovaného vaultu, editor profilov a výber konkrétneho konta pri formulári.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Technická vrstva stojí na Manifest V3, content scripte, options page a background workeri. Dôležitá časť je heuristické mapovanie polí a bezpečnosť cez šifrovaný vault.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 tomto slide uzatváram validáciu. Feedback ukázal, že správna priorita nie je komplikované UI, ale rýchly one-click flow a dôvera pri práci s údajmi.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Záver prezentácie: publikum môže hneď otvoriť GitHub Pages stránku, pozrieť si produkt a stiahnuť si projekt.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aa2bad08a4402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DECB1746-0729-45C7-B526-11E6D4C558A9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A1AD0E36-0E4A-4047-8A98-2DF5B9B43609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7CA616C-19FC-48E7-8DC0-F3A4A6B6D49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9A3F130-3373-4CC0-A9DB-59EC14668AC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3C5BDA-5519-48B1-B051-909EF168861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607c64a19304e90" /><Relationship Type="http://schemas.openxmlformats.org/officeDocument/2006/relationships/slideLayout" Target="/ppt/slideLayouts/slideLayout2.xml" Id="Rcd9b8e5006f949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0486188-E9E8-4BA6-9893-629DE016A541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9b8e5006f949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9464f37c0b4ac7" /><Relationship Type="http://schemas.openxmlformats.org/officeDocument/2006/relationships/image" Target="/ppt/media/image.png" Id="R6d8ca65ac3b94824" /><Relationship Type="http://schemas.openxmlformats.org/officeDocument/2006/relationships/image" Target="/ppt/media/image2.png" Id="Ra94ca45f5a684e53" /><Relationship Type="http://schemas.openxmlformats.org/officeDocument/2006/relationships/image" Target="/ppt/media/image3.png" Id="R5cd41b1740384c01" /><Relationship Type="http://schemas.openxmlformats.org/officeDocument/2006/relationships/image" Target="/ppt/media/image4.png" Id="Rad1375d28d284f3e" /><Relationship Type="http://schemas.openxmlformats.org/officeDocument/2006/relationships/notesSlide" Target="/ppt/notesSlides/notesSlide1.xml" Id="Ra720419ea4f24c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a0e90346fe4aa0" /><Relationship Type="http://schemas.openxmlformats.org/officeDocument/2006/relationships/notesSlide" Target="/ppt/notesSlides/notesSlide2.xml" Id="R336ea8b2ec594e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a22a7002ca4283" /><Relationship Type="http://schemas.openxmlformats.org/officeDocument/2006/relationships/image" Target="/ppt/media/image5.png" Id="Re3f788863d0b4e35" /><Relationship Type="http://schemas.openxmlformats.org/officeDocument/2006/relationships/notesSlide" Target="/ppt/notesSlides/notesSlide3.xml" Id="R25a00e11e14346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6fc008ee814442" /><Relationship Type="http://schemas.openxmlformats.org/officeDocument/2006/relationships/notesSlide" Target="/ppt/notesSlides/notesSlide4.xml" Id="R8efd4c67475140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b42a3099ab4d8f" /><Relationship Type="http://schemas.openxmlformats.org/officeDocument/2006/relationships/image" Target="/ppt/media/image6.png" Id="R55edeb7bb22349c5" /><Relationship Type="http://schemas.openxmlformats.org/officeDocument/2006/relationships/image" Target="/ppt/media/image7.png" Id="Rd063131027384aac" /><Relationship Type="http://schemas.openxmlformats.org/officeDocument/2006/relationships/image" Target="/ppt/media/image8.png" Id="R31e573f7f95345f9" /><Relationship Type="http://schemas.openxmlformats.org/officeDocument/2006/relationships/notesSlide" Target="/ppt/notesSlides/notesSlide5.xml" Id="R2313566bdead43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032d4bb05d4659" /><Relationship Type="http://schemas.openxmlformats.org/officeDocument/2006/relationships/image" Target="/ppt/media/image9.png" Id="R8f336ac200ab4a70" /><Relationship Type="http://schemas.openxmlformats.org/officeDocument/2006/relationships/image" Target="/ppt/media/image10.png" Id="R0bf72b9662ce4529" /><Relationship Type="http://schemas.openxmlformats.org/officeDocument/2006/relationships/image" Target="/ppt/media/image11.png" Id="Rdcb367f420b74f85" /><Relationship Type="http://schemas.openxmlformats.org/officeDocument/2006/relationships/image" Target="/ppt/media/image12.png" Id="R1b4ac3f161b14b6a" /><Relationship Type="http://schemas.openxmlformats.org/officeDocument/2006/relationships/notesSlide" Target="/ppt/notesSlides/notesSlide6.xml" Id="R22f1fb96a3764c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804dbc17c54941" /><Relationship Type="http://schemas.openxmlformats.org/officeDocument/2006/relationships/notesSlide" Target="/ppt/notesSlides/notesSlide7.xml" Id="R2016cb679e914e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588ce6657b4869" /><Relationship Type="http://schemas.openxmlformats.org/officeDocument/2006/relationships/notesSlide" Target="/ppt/notesSlides/notesSlide8.xml" Id="Rdcb0cb35ef464f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ce3a81c03c4f69" /><Relationship Type="http://schemas.openxmlformats.org/officeDocument/2006/relationships/image" Target="/ppt/media/image13.png" Id="Rcf651422509a48f6" /><Relationship Type="http://schemas.openxmlformats.org/officeDocument/2006/relationships/notesSlide" Target="/ppt/notesSlides/notesSlide9.xml" Id="R0fef46da402e4d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3C5BDA-5519-48B1-B051-909EF16886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94C8B-883D-4A05-856D-FC0DE361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A8FF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DC023-C7C4-4B9B-8484-DE197C5E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E0B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B6178-9F50-4790-9D41-DA10A67F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62500"/>
            <a:ext cx="3238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A8FF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736CC-D5F3-4A4B-9EDF-18A0021D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1163300" cy="5943600"/>
          </a:xfrm>
          <a:prstGeom xmlns:a="http://schemas.openxmlformats.org/drawingml/2006/main" prst="roundRect">
            <a:avLst>
              <a:gd name="adj" fmla="val 1282"/>
            </a:avLst>
          </a:prstGeom>
          <a:solidFill xmlns:a="http://schemas.openxmlformats.org/drawingml/2006/main">
            <a:srgbClr val="0F1B2D">
              <a:alpha val="92941"/>
            </a:srgbClr>
          </a:solidFill>
          <a:ln xmlns:a="http://schemas.openxmlformats.org/drawingml/2006/main" w="13335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1088F-1195-4E56-8042-FFE98C62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333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ca65ac3b94824"/>
          <a:stretch xmlns:a="http://schemas.openxmlformats.org/drawingml/2006/main"/>
        </p:blipFill>
        <p:spPr>
          <a:xfrm xmlns:a="http://schemas.openxmlformats.org/drawingml/2006/main">
            <a:off x="937862" y="819150"/>
            <a:ext cx="2296227" cy="628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2D649-B21B-4073-97C6-61A59EA0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3355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EDF5FF"/>
                </a:solidFill>
              </a:defRPr>
            </a:pPr>
            <a:r>
              <a:rPr sz="3750" b="1">
                <a:solidFill>
                  <a:srgbClr val="EDF5FF"/>
                </a:solidFill>
              </a:rPr>
              <a:t>FORMeGO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6AB99-5400-4FC9-AAAE-86B20B42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428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BC0DE"/>
                </a:solidFill>
              </a:defRPr>
            </a:pPr>
            <a:r>
              <a:rPr sz="1650" b="0">
                <a:solidFill>
                  <a:srgbClr val="ABC0DE"/>
                </a:solidFill>
              </a:rPr>
              <a:t>Rozšírenie pre rýchle vypĺňanie formulárov cez uložené profily.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48638-7329-4248-9176-7F39B17E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3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DF5FF"/>
                </a:solidFill>
              </a:defRPr>
            </a:pPr>
            <a:r>
              <a:rPr sz="1125" b="1">
                <a:solidFill>
                  <a:srgbClr val="EDF5FF"/>
                </a:solidFill>
              </a:rPr>
              <a:t>Manifest V3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2BFD0-635F-4364-9C2F-5C9AB827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71850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63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DF5FF"/>
                </a:solidFill>
              </a:defRPr>
            </a:pPr>
            <a:r>
              <a:rPr sz="1125" b="1">
                <a:solidFill>
                  <a:srgbClr val="EDF5FF"/>
                </a:solidFill>
              </a:rPr>
              <a:t>Šifrovaný vault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5EC0E-F7BE-41BB-9E7C-83241CB8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71850"/>
            <a:ext cx="1581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A30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DF5FF"/>
                </a:solidFill>
              </a:defRPr>
            </a:pPr>
            <a:r>
              <a:rPr sz="1125" b="1">
                <a:solidFill>
                  <a:srgbClr val="EDF5FF"/>
                </a:solidFill>
              </a:rPr>
              <a:t>Chrome + Edge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01642-EB50-46D9-A938-8DF6B9AE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43815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41908A-DB8B-4FBE-9FC6-7BA2B03D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76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E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06F55-8C11-4398-B727-76F0F624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910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FE0BE"/>
                </a:solidFill>
              </a:defRPr>
            </a:pPr>
            <a:r>
              <a:rPr sz="1125" b="1">
                <a:solidFill>
                  <a:srgbClr val="7FE0BE"/>
                </a:solidFill>
              </a:rPr>
              <a:t>Autor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541A1-B347-44CC-B9B4-988C137A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DF5FF"/>
                </a:solidFill>
              </a:defRPr>
            </a:pPr>
            <a:r>
              <a:rPr sz="1800" b="1">
                <a:solidFill>
                  <a:srgbClr val="EDF5FF"/>
                </a:solidFill>
              </a:rPr>
              <a:t>Simon Čalík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40308C-E40F-4DF5-916B-79D1724E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910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FE0BE"/>
                </a:solidFill>
              </a:defRPr>
            </a:pPr>
            <a:r>
              <a:rPr sz="1125" b="1">
                <a:solidFill>
                  <a:srgbClr val="7FE0BE"/>
                </a:solidFill>
              </a:rPr>
              <a:t>Predmet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D3317-DA1B-4CB9-B78E-E787AD06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577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92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DF5FF"/>
                </a:solidFill>
              </a:defRPr>
            </a:pPr>
            <a:r>
              <a:rPr sz="1800" b="1">
                <a:solidFill>
                  <a:srgbClr val="EDF5FF"/>
                </a:solidFill>
              </a:rPr>
              <a:t>Projektový manažment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9ED210-1EF9-4163-9920-26B2EF6D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578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BC0DE"/>
                </a:solidFill>
              </a:defRPr>
            </a:pPr>
            <a:r>
              <a:rPr sz="1350" b="0">
                <a:solidFill>
                  <a:srgbClr val="ABC0DE"/>
                </a:solidFill>
              </a:rPr>
              <a:t>Rok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1FA4BA-B518-4500-9A03-D0B9931E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876300"/>
            <a:ext cx="495300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EA9C4E-207D-4F99-9188-D5CFE61B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181100"/>
            <a:ext cx="360045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0A1322"/>
          </a:solidFill>
          <a:ln xmlns:a="http://schemas.openxmlformats.org/drawingml/2006/main" w="9525">
            <a:solidFill>
              <a:srgbClr val="84ABE7">
                <a:alpha val="18039"/>
              </a:srgbClr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4ca45f5a684e53"/>
          <a:srcRect xmlns:a="http://schemas.openxmlformats.org/drawingml/2006/main" l="7883" t="0" r="78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4150" y="1295400"/>
            <a:ext cx="3371850" cy="20764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50041C-12CA-4129-B882-16357AD6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0"/>
            <a:ext cx="1981200" cy="24384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A1322"/>
          </a:solidFill>
          <a:ln xmlns:a="http://schemas.openxmlformats.org/drawingml/2006/main" w="9525">
            <a:solidFill>
              <a:srgbClr val="84ABE7">
                <a:alpha val="18039"/>
              </a:srgbClr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41b1740384c01"/>
          <a:srcRect xmlns:a="http://schemas.openxmlformats.org/drawingml/2006/main" l="2774" t="0" r="27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7300" y="2971800"/>
            <a:ext cx="1752600" cy="22098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EB5154-667D-487D-B78B-F1D2E432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33800"/>
            <a:ext cx="2266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A1322"/>
          </a:solidFill>
          <a:ln xmlns:a="http://schemas.openxmlformats.org/drawingml/2006/main" w="9525">
            <a:solidFill>
              <a:srgbClr val="84ABE7">
                <a:alpha val="18039"/>
              </a:srgbClr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1375d28d284f3e"/>
          <a:srcRect xmlns:a="http://schemas.openxmlformats.org/drawingml/2006/main" l="25111" t="0" r="251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38950" y="3848100"/>
            <a:ext cx="2038350" cy="1200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6705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3C5BDA-5519-48B1-B051-909EF16886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119AE-369A-4A9A-935F-65CC9FB4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A8FF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21B96-1E5A-4527-B38A-2B27986D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E0B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ED27C-7C5F-4205-BD88-0D7B095D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62500"/>
            <a:ext cx="3238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A8FF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2BB1E-4EA0-472C-A745-54A6FB7A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FE0BE"/>
                </a:solidFill>
              </a:defRPr>
            </a:pPr>
            <a:r>
              <a:rPr sz="975" b="1">
                <a:solidFill>
                  <a:srgbClr val="7FE0BE"/>
                </a:solidFill>
              </a:rPr>
              <a:t>PREČO? KTO? ČO?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5DA8AF-2C52-4B3D-9FFA-F110A3BD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</a:defRPr>
            </a:pPr>
            <a:r>
              <a:rPr sz="2550" b="1">
                <a:solidFill>
                  <a:srgbClr val="EDF5FF"/>
                </a:solidFill>
              </a:rPr>
              <a:t>Problém, cieľový používateľ a riešenie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ABD78-9A72-42AF-9FFD-03309299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BC0DE"/>
                </a:solidFill>
              </a:defRPr>
            </a:pPr>
            <a:r>
              <a:rPr sz="1350" b="0">
                <a:solidFill>
                  <a:srgbClr val="ABC0DE"/>
                </a:solidFill>
              </a:rPr>
              <a:t>Jeden slide, ktorý vysvetlí hodnotu produktu bez dlhého rozprávania.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1E948-3BC2-4E79-A5D8-504203D9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105150" cy="316230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64210-993F-4CDC-99A2-FFB2D0FA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762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F182B7-E344-43AB-BC6F-7AA310B6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7A8FF"/>
                </a:solidFill>
              </a:defRPr>
            </a:pPr>
            <a:r>
              <a:rPr sz="1200" b="1">
                <a:solidFill>
                  <a:srgbClr val="57A8FF"/>
                </a:solidFill>
              </a:rPr>
              <a:t>Prečo?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ADEB40-E54C-47FD-82CF-841718ED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2552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DF5FF"/>
                </a:solidFill>
              </a:defRPr>
            </a:pPr>
            <a:r>
              <a:rPr sz="2100" b="1">
                <a:solidFill>
                  <a:srgbClr val="EDF5FF"/>
                </a:solidFill>
              </a:rPr>
              <a:t>Formuláre sú otravne opakované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1D49CE-6A5B-4C20-BE2B-4AAD78A8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5527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BC0DE"/>
                </a:solidFill>
              </a:defRPr>
            </a:pPr>
            <a:r>
              <a:rPr sz="1350" b="0">
                <a:solidFill>
                  <a:srgbClr val="ABC0DE"/>
                </a:solidFill>
              </a:rPr>
              <a:t>Meno, kontakt, adresa či firemné údaje sa vypisujú stále dokola. FORMeGO skracuje tento opakovaný krok na jeden výber profilu.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7E086-09B9-4AE0-A7C7-766834B7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24100"/>
            <a:ext cx="3105150" cy="316230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7A200E-C5E2-48D7-B612-B6C70E9D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24100"/>
            <a:ext cx="762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E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47DFE-9C19-49C4-9AB0-4DE366CD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908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FE0BE"/>
                </a:solidFill>
              </a:defRPr>
            </a:pPr>
            <a:r>
              <a:rPr sz="1200" b="1">
                <a:solidFill>
                  <a:srgbClr val="7FE0BE"/>
                </a:solidFill>
              </a:rPr>
              <a:t>Kto?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0C22EE-EC21-4501-AB3F-C50632C3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71800"/>
            <a:ext cx="2552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DF5FF"/>
                </a:solidFill>
              </a:defRPr>
            </a:pPr>
            <a:r>
              <a:rPr sz="2100" b="1">
                <a:solidFill>
                  <a:srgbClr val="EDF5FF"/>
                </a:solidFill>
              </a:rPr>
              <a:t>Študenti, rodičia, freelanceri, firmy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216D7A-F8AB-44A0-A847-50A8394F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05250"/>
            <a:ext cx="25527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BC0DE"/>
                </a:solidFill>
              </a:defRPr>
            </a:pPr>
            <a:r>
              <a:rPr sz="1350" b="0">
                <a:solidFill>
                  <a:srgbClr val="ABC0DE"/>
                </a:solidFill>
              </a:rPr>
              <a:t>Každý, kto pracuje s viacerými identitami alebo kontaktmi. Typické profily: ja, rodina, pracovný kontakt, firma.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DD858A-BD40-4AD4-9C35-5E58F2B1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24100"/>
            <a:ext cx="3105150" cy="316230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68C932-4702-407E-BEB3-1C82C0A1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24100"/>
            <a:ext cx="762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7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7BF8A9-E027-46F5-9328-D1B74F9F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908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C768"/>
                </a:solidFill>
              </a:defRPr>
            </a:pPr>
            <a:r>
              <a:rPr sz="1200" b="1">
                <a:solidFill>
                  <a:srgbClr val="F6C768"/>
                </a:solidFill>
              </a:rPr>
              <a:t>Čo?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117DB9-FDC6-483A-B577-F65538E5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71800"/>
            <a:ext cx="2552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DF5FF"/>
                </a:solidFill>
              </a:defRPr>
            </a:pPr>
            <a:r>
              <a:rPr sz="2100" b="1">
                <a:solidFill>
                  <a:srgbClr val="EDF5FF"/>
                </a:solidFill>
              </a:rPr>
              <a:t>Chrome/Edge extension s profilmi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164E0E-E084-45E4-BFBF-89986A4B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05250"/>
            <a:ext cx="25527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BC0DE"/>
                </a:solidFill>
              </a:defRPr>
            </a:pPr>
            <a:r>
              <a:rPr sz="1350" b="0">
                <a:solidFill>
                  <a:srgbClr val="ABC0DE"/>
                </a:solidFill>
              </a:rPr>
              <a:t>Rozšírenie zobrazí popover pri formulári, používateľ vyberie profil a systém doplní relevantné polia v rámci formulára.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2286EA-92AC-457D-AA3E-C443227D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34861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631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DF5FF"/>
                </a:solidFill>
              </a:defRPr>
            </a:pPr>
            <a:r>
              <a:rPr sz="1125" b="1">
                <a:solidFill>
                  <a:srgbClr val="EDF5FF"/>
                </a:solidFill>
              </a:rPr>
              <a:t>1 klik namiesto ručného vypisovania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F3A1E5-6E42-4717-9671-2D79ED67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867400"/>
            <a:ext cx="38481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38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DF5FF"/>
                </a:solidFill>
              </a:defRPr>
            </a:pPr>
            <a:r>
              <a:rPr sz="1125" b="1">
                <a:solidFill>
                  <a:srgbClr val="EDF5FF"/>
                </a:solidFill>
              </a:rPr>
              <a:t>Viac profilov + heuristické mapovanie polí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02FD23-18A1-4E6D-B505-B47EDE6F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867400"/>
            <a:ext cx="3124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B32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DF5FF"/>
                </a:solidFill>
              </a:defRPr>
            </a:pPr>
            <a:r>
              <a:rPr sz="1125" b="1">
                <a:solidFill>
                  <a:srgbClr val="EDF5FF"/>
                </a:solidFill>
              </a:rPr>
              <a:t>Lokálne rozšírenie bez zložitej inštalácie</a:t>
            </a:r>
          </a:p>
        </p:txBody>
      </p:sp>
    </p:spTree>
    <p:extLst>
      <p:ext uri="{BB962C8B-B14F-4D97-AF65-F5344CB8AC3E}">
        <p14:creationId xmlns:p14="http://schemas.microsoft.com/office/powerpoint/2010/main" val="16170641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3C5BDA-5519-48B1-B051-909EF16886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DED03-B733-45DD-92AD-13B02E01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A8FF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19A82-B53C-4311-9595-5E3EA17C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E0B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A7B82-B54A-4C5C-B480-D10B3311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62500"/>
            <a:ext cx="3238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A8FF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AACF0-603C-4AF8-89D3-6996B90B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FE0BE"/>
                </a:solidFill>
              </a:defRPr>
            </a:pPr>
            <a:r>
              <a:rPr sz="975" b="1">
                <a:solidFill>
                  <a:srgbClr val="7FE0BE"/>
                </a:solidFill>
              </a:rPr>
              <a:t>VÝSLEDOK DOTAZNÍKU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1F7A4-8F38-4032-9A8C-D9606527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</a:defRPr>
            </a:pPr>
            <a:r>
              <a:rPr sz="2550" b="1">
                <a:solidFill>
                  <a:srgbClr val="EDF5FF"/>
                </a:solidFill>
              </a:rPr>
              <a:t>Validácia záujmu o produkt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ADBD5-8D9B-40F7-8269-62D6DEF3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BC0DE"/>
                </a:solidFill>
              </a:defRPr>
            </a:pPr>
            <a:r>
              <a:rPr sz="1350" b="0">
                <a:solidFill>
                  <a:srgbClr val="ABC0DE"/>
                </a:solidFill>
              </a:rPr>
              <a:t>Dotazník naznačil, že problém je reálny a ľudia by takéto rozšírenie chceli používať.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CF807-C204-4A27-A94C-EEA57E78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33400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788863d0b4e35"/>
          <a:srcRect xmlns:a="http://schemas.openxmlformats.org/drawingml/2006/main" l="0" t="10035" r="0" b="100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286000"/>
            <a:ext cx="5029200" cy="35623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A45FE-F5D0-4F85-AFCF-73256808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516255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6B8052-84A4-4D44-B9BE-0D5E5B59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FE0BE"/>
                </a:solidFill>
              </a:defRPr>
            </a:pPr>
            <a:r>
              <a:rPr sz="1125" b="1">
                <a:solidFill>
                  <a:srgbClr val="7FE0BE"/>
                </a:solidFill>
              </a:rPr>
              <a:t>7 odpovedí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6C29E9-F61D-40A8-A729-EC9514FF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2133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61D1A0-7620-4C76-B0BA-EE1B5EC5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012D2-3154-4129-BC2A-55E680A3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0990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</a:defRPr>
            </a:pPr>
            <a:r>
              <a:rPr sz="2550" b="1">
                <a:solidFill>
                  <a:srgbClr val="EDF5FF"/>
                </a:solidFill>
              </a:rPr>
              <a:t>100 %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33CC1E-11FE-4BA2-A5A4-0E4F1EE5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86150"/>
            <a:ext cx="1790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BC0DE"/>
                </a:solidFill>
              </a:defRPr>
            </a:pPr>
            <a:r>
              <a:rPr sz="1200" b="0">
                <a:solidFill>
                  <a:srgbClr val="ABC0DE"/>
                </a:solidFill>
              </a:rPr>
              <a:t>považuje nápad za dobrý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AE2750-15A8-4820-90E1-FDB1D90C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57500"/>
            <a:ext cx="2133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80631F-B5C2-484D-872E-247FAD04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575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52934F-D9D0-42AF-AAA0-C7E42101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0990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</a:defRPr>
            </a:pPr>
            <a:r>
              <a:rPr sz="2550" b="1">
                <a:solidFill>
                  <a:srgbClr val="EDF5FF"/>
                </a:solidFill>
              </a:rPr>
              <a:t>100 %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E29DB7-D7A8-4E7A-BF6E-A33ED093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86150"/>
            <a:ext cx="1790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BC0DE"/>
                </a:solidFill>
              </a:defRPr>
            </a:pPr>
            <a:r>
              <a:rPr sz="1200" b="0">
                <a:solidFill>
                  <a:srgbClr val="ABC0DE"/>
                </a:solidFill>
              </a:rPr>
              <a:t>by chcelo takúto custom extension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5F9412-2D08-409A-A101-FA3EA21B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38650"/>
            <a:ext cx="2133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89EE16-8E1F-499A-B0BB-FD9B7262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386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C7D927-A5C9-412C-9A30-4FAA00DA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9105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</a:defRPr>
            </a:pPr>
            <a:r>
              <a:rPr sz="2550" b="1">
                <a:solidFill>
                  <a:srgbClr val="EDF5FF"/>
                </a:solidFill>
              </a:rPr>
              <a:t>57,1 %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372A56-66FD-4CBF-8D46-FE04E334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67300"/>
            <a:ext cx="1790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BC0DE"/>
                </a:solidFill>
              </a:defRPr>
            </a:pPr>
            <a:r>
              <a:rPr sz="1200" b="0">
                <a:solidFill>
                  <a:srgbClr val="ABC0DE"/>
                </a:solidFill>
              </a:rPr>
              <a:t>doteraz nepoužilo podobnú alternatívu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CC6D60-BD2E-46D0-BA92-621023D5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38650"/>
            <a:ext cx="2133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076D25-1EB1-4D7C-8529-42B24603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386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693791-5794-4D9A-93EF-26D7BB25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59105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</a:defRPr>
            </a:pPr>
            <a:r>
              <a:rPr sz="2550" b="1">
                <a:solidFill>
                  <a:srgbClr val="EDF5FF"/>
                </a:solidFill>
              </a:rPr>
              <a:t>42,9 %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20C9C9-7C0B-4BAA-BDCF-FC697FEF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067300"/>
            <a:ext cx="1790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BC0DE"/>
                </a:solidFill>
              </a:defRPr>
            </a:pPr>
            <a:r>
              <a:rPr sz="1200" b="0">
                <a:solidFill>
                  <a:srgbClr val="ABC0DE"/>
                </a:solidFill>
              </a:rPr>
              <a:t>už pozná alebo používa podobný spôsob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54041D-D14B-4C09-8105-CD33A998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10801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BC0DE"/>
                </a:solidFill>
              </a:defRPr>
            </a:pPr>
            <a:r>
              <a:rPr sz="1200" b="0">
                <a:solidFill>
                  <a:srgbClr val="ABC0DE"/>
                </a:solidFill>
              </a:rPr>
              <a:t>Záver: produkt má jasný use-case a nízky prah pochopenia. Ľudia presne vedia, na čo by ho použili.</a:t>
            </a:r>
          </a:p>
        </p:txBody>
      </p:sp>
    </p:spTree>
    <p:extLst>
      <p:ext uri="{BB962C8B-B14F-4D97-AF65-F5344CB8AC3E}">
        <p14:creationId xmlns:p14="http://schemas.microsoft.com/office/powerpoint/2010/main" val="7461752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3C5BDA-5519-48B1-B051-909EF16886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FEEFA-1848-4CA8-A377-E66B223D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A8FF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B495A-137D-4ED9-88B6-B34CBE38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E0B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A65B8-1E87-44B8-9CD6-3F74F62C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62500"/>
            <a:ext cx="3238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A8FF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791A6-2F40-4DD7-9DDB-8C9B639D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FE0BE"/>
                </a:solidFill>
              </a:defRPr>
            </a:pPr>
            <a:r>
              <a:rPr sz="975" b="1">
                <a:solidFill>
                  <a:srgbClr val="7FE0BE"/>
                </a:solidFill>
              </a:rPr>
              <a:t>MVP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10AEA-0DA4-4428-9E15-E9E7C8C5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</a:defRPr>
            </a:pPr>
            <a:r>
              <a:rPr sz="2550" b="1">
                <a:solidFill>
                  <a:srgbClr val="EDF5FF"/>
                </a:solidFill>
              </a:rPr>
              <a:t>Čo tvorí jadro produktu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E153B-D0FB-4C1E-BADE-EB45BB5E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BC0DE"/>
                </a:solidFill>
              </a:defRPr>
            </a:pPr>
            <a:r>
              <a:rPr sz="1350" b="0">
                <a:solidFill>
                  <a:srgbClr val="ABC0DE"/>
                </a:solidFill>
              </a:rPr>
              <a:t>Fokus bol na funkciách, ktoré dávajú používateľovi okamžitú hodnotu už v prvej verzii.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AEBEF-BA98-418A-8916-0D4728B7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76850" cy="4057650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69D3D-B15F-4C4E-9933-06E248BF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620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E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9DD5E-3B82-4A63-9E62-33169C9C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DF5FF"/>
                </a:solidFill>
              </a:defRPr>
            </a:pPr>
            <a:r>
              <a:rPr sz="1800" b="1">
                <a:solidFill>
                  <a:srgbClr val="EDF5FF"/>
                </a:solidFill>
              </a:rPr>
              <a:t>Hotové jadro 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C3AA87-8225-402E-9C0E-D96E5DE8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E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BF1FA-A0E7-4F40-A7B5-7D732097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0"/>
            <a:ext cx="426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DF5FF"/>
                </a:solidFill>
              </a:defRPr>
            </a:pPr>
            <a:r>
              <a:rPr sz="1350" b="0">
                <a:solidFill>
                  <a:srgbClr val="EDF5FF"/>
                </a:solidFill>
              </a:rPr>
              <a:t>vytvorenie, úprava a odstránenie profilu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0C184E-A3A8-42B7-A929-C56349EC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E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A6D307-2D73-4A35-9129-A582DBD6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33750"/>
            <a:ext cx="426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DF5FF"/>
                </a:solidFill>
              </a:defRPr>
            </a:pPr>
            <a:r>
              <a:rPr sz="1350" b="0">
                <a:solidFill>
                  <a:srgbClr val="EDF5FF"/>
                </a:solidFill>
              </a:rPr>
              <a:t>zoznam profilov v options stránke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355F5-C39F-4DBE-A689-DA1231CF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86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E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DB466-E431-4B25-B4F5-40E718D1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0000"/>
            <a:ext cx="426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DF5FF"/>
                </a:solidFill>
              </a:defRPr>
            </a:pPr>
            <a:r>
              <a:rPr sz="1350" b="0">
                <a:solidFill>
                  <a:srgbClr val="EDF5FF"/>
                </a:solidFill>
              </a:rPr>
              <a:t>výber profilu priamo pri formulári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B2D008-B410-44A6-9DB1-97C1FB37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62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E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DD6CE2-6FE9-4BB3-816D-30F8DA8B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86250"/>
            <a:ext cx="426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DF5FF"/>
                </a:solidFill>
              </a:defRPr>
            </a:pPr>
            <a:r>
              <a:rPr sz="1350" b="0">
                <a:solidFill>
                  <a:srgbClr val="EDF5FF"/>
                </a:solidFill>
              </a:rPr>
              <a:t>rozpoznávanie polí formulára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CE764C-38BD-4F78-8594-46109C69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38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E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E94444-0E2F-47A0-8625-33A1287C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62500"/>
            <a:ext cx="426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DF5FF"/>
                </a:solidFill>
              </a:defRPr>
            </a:pPr>
            <a:r>
              <a:rPr sz="1350" b="0">
                <a:solidFill>
                  <a:srgbClr val="EDF5FF"/>
                </a:solidFill>
              </a:rPr>
              <a:t>podpora firemných údajov a viacerých kontaktov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EC65A7-7EAE-42FD-A757-970E7749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14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E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2CB6EE-6719-435A-9526-70E1B672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38750"/>
            <a:ext cx="426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DF5FF"/>
                </a:solidFill>
              </a:defRPr>
            </a:pPr>
            <a:r>
              <a:rPr sz="1350" b="0">
                <a:solidFill>
                  <a:srgbClr val="EDF5FF"/>
                </a:solidFill>
              </a:rPr>
              <a:t>poznámka k profilu a šifrovaný vault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D90FB5-531F-4A5C-9960-73A64C7D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48300"/>
            <a:ext cx="2095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3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DF5FF"/>
                </a:solidFill>
              </a:defRPr>
            </a:pPr>
            <a:r>
              <a:rPr sz="1125" b="1">
                <a:solidFill>
                  <a:srgbClr val="EDF5FF"/>
                </a:solidFill>
              </a:rPr>
              <a:t>8 / 10 user stories = Done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16CDC6-ECA0-4BAE-A8B8-30EDC7A8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5276850" cy="4057650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B9BD9B-3CAD-4E61-8F1F-278A9071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7620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7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E428A2-1BCE-437F-A8A5-B4D76604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003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DF5FF"/>
                </a:solidFill>
              </a:defRPr>
            </a:pPr>
            <a:r>
              <a:rPr sz="1800" b="1">
                <a:solidFill>
                  <a:srgbClr val="EDF5FF"/>
                </a:solidFill>
              </a:rPr>
              <a:t>Ďalší krok po MVP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BCB819-9F16-4B64-8560-A3BD7888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95600"/>
            <a:ext cx="46291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253D"/>
          </a:solidFill>
          <a:ln xmlns:a="http://schemas.openxmlformats.org/drawingml/2006/main" w="9525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5E7CDC-0DC0-4317-B226-7EFA44F8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19425"/>
            <a:ext cx="421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BC0DE"/>
                </a:solidFill>
              </a:defRPr>
            </a:pPr>
            <a:r>
              <a:rPr sz="1275" b="0">
                <a:solidFill>
                  <a:srgbClr val="ABC0DE"/>
                </a:solidFill>
              </a:rPr>
              <a:t>vybrať len konkrétnu informáciu namiesto celého formulára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7FFE28-4F39-4D28-B124-E96460C5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81400"/>
            <a:ext cx="46291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253D"/>
          </a:solidFill>
          <a:ln xmlns:a="http://schemas.openxmlformats.org/drawingml/2006/main" w="9525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B33197-8C74-4ED3-91C2-20BA61CE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05225"/>
            <a:ext cx="421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BC0DE"/>
                </a:solidFill>
              </a:defRPr>
            </a:pPr>
            <a:r>
              <a:rPr sz="1275" b="0">
                <a:solidFill>
                  <a:srgbClr val="ABC0DE"/>
                </a:solidFill>
              </a:rPr>
              <a:t>zobraziť vopred, čo sa presne vyplní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991E31-5D43-40A7-9775-4BD20DCC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7200"/>
            <a:ext cx="46291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253D"/>
          </a:solidFill>
          <a:ln xmlns:a="http://schemas.openxmlformats.org/drawingml/2006/main" w="9525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0810CA-A7E1-4A13-A73F-E09F338D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91025"/>
            <a:ext cx="421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BC0DE"/>
                </a:solidFill>
              </a:defRPr>
            </a:pPr>
            <a:r>
              <a:rPr sz="1275" b="0">
                <a:solidFill>
                  <a:srgbClr val="ABC0DE"/>
                </a:solidFill>
              </a:rPr>
              <a:t>ďalšie bezpečnostné vrstvy pri citlivých údajoch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3AF354-925D-4C18-9AF9-6B894052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53000"/>
            <a:ext cx="46291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253D"/>
          </a:solidFill>
          <a:ln xmlns:a="http://schemas.openxmlformats.org/drawingml/2006/main" w="9525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FAC89A-7445-4096-8B5C-DE098C12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76825"/>
            <a:ext cx="421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BC0DE"/>
                </a:solidFill>
              </a:defRPr>
            </a:pPr>
            <a:r>
              <a:rPr sz="1275" b="0">
                <a:solidFill>
                  <a:srgbClr val="ABC0DE"/>
                </a:solidFill>
              </a:rPr>
              <a:t>rozšírenie heuristík pre komplikované formuláre</a:t>
            </a:r>
          </a:p>
        </p:txBody>
      </p:sp>
    </p:spTree>
    <p:extLst>
      <p:ext uri="{BB962C8B-B14F-4D97-AF65-F5344CB8AC3E}">
        <p14:creationId xmlns:p14="http://schemas.microsoft.com/office/powerpoint/2010/main" val="17738402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3C5BDA-5519-48B1-B051-909EF16886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2E7C0-EDD2-46B4-86BD-7EB6C9BD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A8FF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4B1F4-D7EB-439D-A615-5DEC2CD3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E0B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7DAAB-0918-4CF1-A3EE-D0125341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62500"/>
            <a:ext cx="3238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A8FF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926AD-F485-4B18-BB35-9EBA10AF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FE0BE"/>
                </a:solidFill>
              </a:defRPr>
            </a:pPr>
            <a:r>
              <a:rPr sz="975" b="1">
                <a:solidFill>
                  <a:srgbClr val="7FE0BE"/>
                </a:solidFill>
              </a:rPr>
              <a:t>TUNEL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067B4-29E6-46DD-A586-1498C077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</a:defRPr>
            </a:pPr>
            <a:r>
              <a:rPr sz="2550" b="1">
                <a:solidFill>
                  <a:srgbClr val="EDF5FF"/>
                </a:solidFill>
              </a:rPr>
              <a:t>Od prezentačnej stránky po stiahnutie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4F7DF-2749-4815-ADD0-BC999704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BC0DE"/>
                </a:solidFill>
              </a:defRPr>
            </a:pPr>
            <a:r>
              <a:rPr sz="1350" b="0">
                <a:solidFill>
                  <a:srgbClr val="ABC0DE"/>
                </a:solidFill>
              </a:rPr>
              <a:t>Cieľom je, aby používateľ vedel pochopiť produkt, dostať sa k repozitáru a spustiť rozšírenie bez chaosu.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262C2-BC49-4958-84F7-A605A7FC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2324100" cy="3467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29765-D8DA-4E7B-8C08-20984D5C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762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3463B7-7779-4D1E-AE95-2FE6B2F7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DF5FF"/>
                </a:solidFill>
              </a:defRPr>
            </a:pPr>
            <a:r>
              <a:rPr sz="1350" b="1">
                <a:solidFill>
                  <a:srgbClr val="EDF5FF"/>
                </a:solidFill>
              </a:rPr>
              <a:t>1. GitHub Pages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FCD37-0CD2-41A9-BFC5-B1E9FC8E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2019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C20DC-575B-4A54-A463-2E0B0F42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67050"/>
            <a:ext cx="18669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5CE9F0-0EA8-4C18-A47A-625AF61A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670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60D105-66E0-40D4-8DB8-519BD0A1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B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B8D3EE-3B06-4207-A97B-51DB585C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0B075-8349-4B06-B986-A89A1EC1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E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deb7bb22349c5"/>
          <a:stretch xmlns:a="http://schemas.openxmlformats.org/drawingml/2006/main"/>
        </p:blipFill>
        <p:spPr>
          <a:xfrm xmlns:a="http://schemas.openxmlformats.org/drawingml/2006/main">
            <a:off x="1183105" y="3352800"/>
            <a:ext cx="1043739" cy="2857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37D960-4D66-4F53-83CD-7B69A1B6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01B"/>
                </a:solidFill>
              </a:defRPr>
            </a:pPr>
            <a:r>
              <a:rPr sz="975" b="1">
                <a:solidFill>
                  <a:srgbClr val="06101B"/>
                </a:solidFill>
              </a:rPr>
              <a:t>Automatické vypĺňanie formulárov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089CE-7528-48C4-B208-7C114B8A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2566F"/>
                </a:solidFill>
              </a:defRPr>
            </a:pPr>
            <a:r>
              <a:rPr sz="825" b="0">
                <a:solidFill>
                  <a:srgbClr val="42566F"/>
                </a:solidFill>
              </a:rPr>
              <a:t>funkcie • screenshoty • návod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2B7695-C85A-4284-B14C-7C66D8FE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766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57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08F5F5-4461-47F8-9495-61DA8DEC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004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ZIP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B7693B-A4F8-4E8C-BEDB-CD3B9E02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1943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BC0DE"/>
                </a:solidFill>
              </a:defRPr>
            </a:pPr>
            <a:r>
              <a:rPr sz="1200" b="0">
                <a:solidFill>
                  <a:srgbClr val="ABC0DE"/>
                </a:solidFill>
              </a:rPr>
              <a:t>Pútavá prezentačná stránka vysvetlí hodnotu produktu, funkcie aj inštaláciu.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4CC416-B06E-4EC1-9A13-A180929E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0525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6C0FF"/>
                </a:solidFill>
              </a:defRPr>
            </a:pPr>
            <a:r>
              <a:rPr sz="2100" b="1">
                <a:solidFill>
                  <a:srgbClr val="86C0FF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F979D2-62F0-4BFC-BF1D-ED88046B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43150"/>
            <a:ext cx="2324100" cy="3467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45A55E-0EE3-434B-8D9A-BE5B0614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43150"/>
            <a:ext cx="762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B2E9C9-2E27-4798-8362-67DCDECB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527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DF5FF"/>
                </a:solidFill>
              </a:defRPr>
            </a:pPr>
            <a:r>
              <a:rPr sz="1350" b="1">
                <a:solidFill>
                  <a:srgbClr val="EDF5FF"/>
                </a:solidFill>
              </a:rPr>
              <a:t>2. Stiahnuť ZIP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E57317-A200-40FB-8053-01C01C24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52750"/>
            <a:ext cx="2019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8B8183-A700-47F7-9C0C-9D29D3BA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81350"/>
            <a:ext cx="819150" cy="10287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5F9FF"/>
          </a:solidFill>
          <a:ln xmlns:a="http://schemas.openxmlformats.org/drawingml/2006/main" w="9525">
            <a:solidFill>
              <a:srgbClr val="D8E5F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DC8121-60BA-46C0-9765-C2275C6C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813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086F5D-65CC-49EC-B966-6EA9C12E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433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101B"/>
                </a:solidFill>
              </a:defRPr>
            </a:pPr>
            <a:r>
              <a:rPr sz="1350" b="1">
                <a:solidFill>
                  <a:srgbClr val="06101B"/>
                </a:solidFill>
              </a:rPr>
              <a:t>.zip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C636BD-C7AD-42D6-B49F-CB5DAEEA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4810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8617D"/>
                </a:solidFill>
              </a:defRPr>
            </a:pPr>
            <a:r>
              <a:rPr sz="825" b="1">
                <a:solidFill>
                  <a:srgbClr val="48617D"/>
                </a:solidFill>
              </a:rPr>
              <a:t>FORMeGO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D0B1D8-B578-427C-895F-82C5013E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09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D7299C-E836-4787-8D7D-92CC1B51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671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57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D67B56-EA69-4A39-B6A7-60652F8C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2910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BC0DE"/>
                </a:solidFill>
              </a:defRPr>
            </a:pPr>
            <a:r>
              <a:rPr sz="825" b="0">
                <a:solidFill>
                  <a:srgbClr val="ABC0DE"/>
                </a:solidFill>
              </a:rPr>
              <a:t>Repo → ZIP → stiahnuť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9E223C-EA13-4BE1-B7BB-0C100D6C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05350"/>
            <a:ext cx="1943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BC0DE"/>
                </a:solidFill>
              </a:defRPr>
            </a:pPr>
            <a:r>
              <a:rPr sz="1200" b="0">
                <a:solidFill>
                  <a:srgbClr val="ABC0DE"/>
                </a:solidFill>
              </a:rPr>
              <a:t>CTA vedie na repozitár alebo priamo na ZIP balík projektu.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5319B7-D9EE-4944-8F72-6B4F4576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0525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6C0FF"/>
                </a:solidFill>
              </a:defRPr>
            </a:pPr>
            <a:r>
              <a:rPr sz="2100" b="1">
                <a:solidFill>
                  <a:srgbClr val="86C0FF"/>
                </a:solidFill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FAD01D-DD22-403E-8825-84F8DB70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2324100" cy="3467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41D579-93BD-4FC5-B683-EF1870C1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762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3388AF-D71C-4274-B522-03A43FB4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DF5FF"/>
                </a:solidFill>
              </a:defRPr>
            </a:pPr>
            <a:r>
              <a:rPr sz="1350" b="1">
                <a:solidFill>
                  <a:srgbClr val="EDF5FF"/>
                </a:solidFill>
              </a:rPr>
              <a:t>3. Load unpacked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42981E-2CDE-4024-B9B5-33A93E3D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52750"/>
            <a:ext cx="2019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84ABE7">
                <a:alpha val="18039"/>
              </a:srgbClr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3131027384aac"/>
          <a:srcRect xmlns:a="http://schemas.openxmlformats.org/drawingml/2006/main" l="13210" t="0" r="132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3028950"/>
            <a:ext cx="1866900" cy="137160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20A43C-9785-4C9E-A574-C6EEC9E8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05350"/>
            <a:ext cx="1943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BC0DE"/>
                </a:solidFill>
              </a:defRPr>
            </a:pPr>
            <a:r>
              <a:rPr sz="1200" b="0">
                <a:solidFill>
                  <a:srgbClr val="ABC0DE"/>
                </a:solidFill>
              </a:rPr>
              <a:t>Používateľ otvorí chrome://extensions a načíta priečinok autofill-profiles.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E4E01F-7F68-444E-9DEE-793C8761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0525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6C0FF"/>
                </a:solidFill>
              </a:defRPr>
            </a:pPr>
            <a:r>
              <a:rPr sz="2100" b="1">
                <a:solidFill>
                  <a:srgbClr val="86C0FF"/>
                </a:solidFill>
              </a:rPr>
              <a:t>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309978-E128-4970-ABD2-D0B066DB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43150"/>
            <a:ext cx="2324100" cy="3467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76713A-55D5-4FB4-9C97-BC7A155F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43150"/>
            <a:ext cx="762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16EF8E-1B04-4D01-AD95-8A946425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527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DF5FF"/>
                </a:solidFill>
              </a:defRPr>
            </a:pPr>
            <a:r>
              <a:rPr sz="1350" b="1">
                <a:solidFill>
                  <a:srgbClr val="EDF5FF"/>
                </a:solidFill>
              </a:rPr>
              <a:t>4. Rozšírenie pripravené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777DD9-63F0-4975-AD02-A5C667A3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52750"/>
            <a:ext cx="2019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84ABE7">
                <a:alpha val="18039"/>
              </a:srgbClr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573f7f95345f9"/>
          <a:srcRect xmlns:a="http://schemas.openxmlformats.org/drawingml/2006/main" l="0" t="19154" r="0" b="191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2600" y="3028950"/>
            <a:ext cx="1866900" cy="137160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106A04-3058-4FE8-8258-39DAA274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05350"/>
            <a:ext cx="1943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BC0DE"/>
                </a:solidFill>
              </a:defRPr>
            </a:pPr>
            <a:r>
              <a:rPr sz="1200" b="0">
                <a:solidFill>
                  <a:srgbClr val="ABC0DE"/>
                </a:solidFill>
              </a:rPr>
              <a:t>Po focusnutí formulára sa zobrazí popover a profil vie doplniť údaje.</a:t>
            </a:r>
          </a:p>
        </p:txBody>
      </p:sp>
    </p:spTree>
    <p:extLst>
      <p:ext uri="{BB962C8B-B14F-4D97-AF65-F5344CB8AC3E}">
        <p14:creationId xmlns:p14="http://schemas.microsoft.com/office/powerpoint/2010/main" val="5121914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3C5BDA-5519-48B1-B051-909EF16886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CC7CA-05EC-4EB9-AA65-340C9104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A8FF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2D2C1-46AD-4ADC-B185-DD40A8B7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E0B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8AD20-99D7-4901-A5D5-FAD333A3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62500"/>
            <a:ext cx="3238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A8FF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486A8-6F7C-4E51-86E4-8FE5B7AC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FE0BE"/>
                </a:solidFill>
              </a:defRPr>
            </a:pPr>
            <a:r>
              <a:rPr sz="975" b="1">
                <a:solidFill>
                  <a:srgbClr val="7FE0BE"/>
                </a:solidFill>
              </a:rPr>
              <a:t>DEMO APLIKÁCIE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0BD75-CF3B-40D3-A3FA-143EB4BB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</a:defRPr>
            </a:pPr>
            <a:r>
              <a:rPr sz="2550" b="1">
                <a:solidFill>
                  <a:srgbClr val="EDF5FF"/>
                </a:solidFill>
              </a:rPr>
              <a:t>Ako FORMeGO vyzerá v praxi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1468E-3898-4046-933A-DFB7F60B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BC0DE"/>
                </a:solidFill>
              </a:defRPr>
            </a:pPr>
            <a:r>
              <a:rPr sz="1350" b="0">
                <a:solidFill>
                  <a:srgbClr val="ABC0DE"/>
                </a:solidFill>
              </a:rPr>
              <a:t>Rozšírenie stojí na dvoch pilieroch: správa profilov a rýchly výber pri formulári.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B4FDF-851D-4892-9685-2A44A282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622935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2AF7C7-6B8A-4B61-A61E-240443A9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762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2BA95-4697-4C49-A56D-DFA144D1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DF5FF"/>
                </a:solidFill>
              </a:defRPr>
            </a:pPr>
            <a:r>
              <a:rPr sz="1500" b="1">
                <a:solidFill>
                  <a:srgbClr val="EDF5FF"/>
                </a:solidFill>
              </a:rPr>
              <a:t>Options stránka a editor profilov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5CB64-90BA-431A-AA6A-71B08B24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577215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0A1322"/>
          </a:solidFill>
          <a:ln xmlns:a="http://schemas.openxmlformats.org/drawingml/2006/main" w="9525">
            <a:solidFill>
              <a:srgbClr val="84ABE7">
                <a:alpha val="18039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36ac200ab4a70"/>
          <a:srcRect xmlns:a="http://schemas.openxmlformats.org/drawingml/2006/main" l="0" t="3627" r="0" b="36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700" y="2876550"/>
            <a:ext cx="5543550" cy="26670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FC805-5DED-46A4-A118-0BC8A685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33600"/>
            <a:ext cx="43243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91FF1-58BB-4E92-A190-133FFF89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336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E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16F224-B832-4135-A764-42B51D60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86000"/>
            <a:ext cx="11620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A1322"/>
          </a:solidFill>
          <a:ln xmlns:a="http://schemas.openxmlformats.org/drawingml/2006/main" w="9525">
            <a:solidFill>
              <a:srgbClr val="84ABE7">
                <a:alpha val="18039"/>
              </a:srgbClr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72b9662ce4529"/>
          <a:srcRect xmlns:a="http://schemas.openxmlformats.org/drawingml/2006/main" l="0" t="19106" r="0" b="191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48550" y="2362200"/>
            <a:ext cx="1009650" cy="7429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D1CBFF-DDB4-4917-A7F5-AC8EACAE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0505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DF5FF"/>
                </a:solidFill>
              </a:defRPr>
            </a:pPr>
            <a:r>
              <a:rPr sz="1350" b="1">
                <a:solidFill>
                  <a:srgbClr val="EDF5FF"/>
                </a:solidFill>
              </a:rPr>
              <a:t>Vault unlock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743C0-01AF-43E9-AFE0-02511AE6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09850"/>
            <a:ext cx="240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BC0DE"/>
                </a:solidFill>
              </a:defRPr>
            </a:pPr>
            <a:r>
              <a:rPr sz="1125" b="0">
                <a:solidFill>
                  <a:srgbClr val="ABC0DE"/>
                </a:solidFill>
              </a:rPr>
              <a:t>Citlivé údaje sú chránené a profilový vault sa odomyká heslom.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855C10-2390-40E6-B920-09AACDC9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48050"/>
            <a:ext cx="43243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C1A6C6-3E4F-4C86-B2E7-7C45737C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480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E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BFDE91-E095-42D5-8872-B4D6A54F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00450"/>
            <a:ext cx="11620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A1322"/>
          </a:solidFill>
          <a:ln xmlns:a="http://schemas.openxmlformats.org/drawingml/2006/main" w="9525">
            <a:solidFill>
              <a:srgbClr val="84ABE7">
                <a:alpha val="18039"/>
              </a:srgbClr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367f420b74f85"/>
          <a:srcRect xmlns:a="http://schemas.openxmlformats.org/drawingml/2006/main" l="0" t="10018" r="0" b="100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48550" y="3676650"/>
            <a:ext cx="1009650" cy="7429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DD78B4-2F36-4703-B1FF-AB6435A1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1950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DF5FF"/>
                </a:solidFill>
              </a:defRPr>
            </a:pPr>
            <a:r>
              <a:rPr sz="1350" b="1">
                <a:solidFill>
                  <a:srgbClr val="EDF5FF"/>
                </a:solidFill>
              </a:rPr>
              <a:t>Editor sekcií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256AC6-6C11-485C-BD9B-93AB8405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24300"/>
            <a:ext cx="240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BC0DE"/>
                </a:solidFill>
              </a:defRPr>
            </a:pPr>
            <a:r>
              <a:rPr sz="1125" b="0">
                <a:solidFill>
                  <a:srgbClr val="ABC0DE"/>
                </a:solidFill>
              </a:rPr>
              <a:t>Používateľ dopĺňa identitu, kontakt, adresu aj ďalšie údaje.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95A757-692F-41FF-A5C6-B57DEC38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62500"/>
            <a:ext cx="43243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71F7DA-BAFD-407C-AE23-69217794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625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E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1F9D9D-6F8C-4785-AF72-6E894A5E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914900"/>
            <a:ext cx="11620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A1322"/>
          </a:solidFill>
          <a:ln xmlns:a="http://schemas.openxmlformats.org/drawingml/2006/main" w="9525">
            <a:solidFill>
              <a:srgbClr val="84ABE7">
                <a:alpha val="18039"/>
              </a:srgbClr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ac3f161b14b6a"/>
          <a:srcRect xmlns:a="http://schemas.openxmlformats.org/drawingml/2006/main" l="973" t="0" r="9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48550" y="4991100"/>
            <a:ext cx="1009650" cy="7429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036948-D7D5-41E9-A768-370B15DE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3395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DF5FF"/>
                </a:solidFill>
              </a:defRPr>
            </a:pPr>
            <a:r>
              <a:rPr sz="1350" b="1">
                <a:solidFill>
                  <a:srgbClr val="EDF5FF"/>
                </a:solidFill>
              </a:rPr>
              <a:t>Zoznam profilov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E4D416-11F0-496B-BAF3-772EB43B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238750"/>
            <a:ext cx="240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BC0DE"/>
                </a:solidFill>
              </a:defRPr>
            </a:pPr>
            <a:r>
              <a:rPr sz="1125" b="0">
                <a:solidFill>
                  <a:srgbClr val="ABC0DE"/>
                </a:solidFill>
              </a:rPr>
              <a:t>Výber kont typu Ja, sestra, tato alebo pracovný profil.</a:t>
            </a:r>
          </a:p>
        </p:txBody>
      </p:sp>
    </p:spTree>
    <p:extLst>
      <p:ext uri="{BB962C8B-B14F-4D97-AF65-F5344CB8AC3E}">
        <p14:creationId xmlns:p14="http://schemas.microsoft.com/office/powerpoint/2010/main" val="5353218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3C5BDA-5519-48B1-B051-909EF16886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764AE-D941-412D-86DD-73307E0A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A8FF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8E396-02E3-4A80-AF3E-E926CE89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E0B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CD784-866E-49E8-B6F8-1DBF3FB8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62500"/>
            <a:ext cx="3238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A8FF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14121-CD9D-4EAF-A526-7783BCD9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FE0BE"/>
                </a:solidFill>
              </a:defRPr>
            </a:pPr>
            <a:r>
              <a:rPr sz="975" b="1">
                <a:solidFill>
                  <a:srgbClr val="7FE0BE"/>
                </a:solidFill>
              </a:rPr>
              <a:t>TECHNICKÉ ZÁLEŽITOSTI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5A805-3BF3-4923-A05D-7840A5B3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</a:defRPr>
            </a:pPr>
            <a:r>
              <a:rPr sz="2550" b="1">
                <a:solidFill>
                  <a:srgbClr val="EDF5FF"/>
                </a:solidFill>
              </a:rPr>
              <a:t>Ako je produkt postavený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EA8EC-384C-4AD6-A3BB-018C72DD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BC0DE"/>
                </a:solidFill>
              </a:defRPr>
            </a:pPr>
            <a:r>
              <a:rPr sz="1350" b="0">
                <a:solidFill>
                  <a:srgbClr val="ABC0DE"/>
                </a:solidFill>
              </a:rPr>
              <a:t>Technológie sú jednoduché, ale riešia presne to, čo produkt potrebuje: UI, heuristiku, storage a bezpečnosť.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D8519-3A41-4CA1-B180-2FDAA5AA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08AA9-EE32-4333-A002-A549B7BD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0764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A71294-1CFB-46EC-A81D-6483E315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8CCAC-8CAC-45F9-A188-38D5A680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DF5FF"/>
                </a:solidFill>
              </a:defRPr>
            </a:pPr>
            <a:r>
              <a:rPr sz="1500" b="1">
                <a:solidFill>
                  <a:srgbClr val="EDF5FF"/>
                </a:solidFill>
              </a:rPr>
              <a:t>Manifest V3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4C00B-4828-4EC2-8DF0-28310F46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57550"/>
            <a:ext cx="173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98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BC0DE"/>
                </a:solidFill>
              </a:defRPr>
            </a:pPr>
            <a:r>
              <a:rPr sz="1200" b="0">
                <a:solidFill>
                  <a:srgbClr val="ABC0DE"/>
                </a:solidFill>
              </a:rPr>
              <a:t>Chrome/Edge extension so správnym life-cyclom a host permissions.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AA66A-BA6B-4293-9AF8-8165496C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2286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405067-CD3C-41FE-B0E4-0CC72EB6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E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2A3B53-7812-4846-B0E5-F46F38EB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956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DF5FF"/>
                </a:solidFill>
              </a:defRPr>
            </a:pPr>
            <a:r>
              <a:rPr sz="1500" b="1">
                <a:solidFill>
                  <a:srgbClr val="EDF5FF"/>
                </a:solidFill>
              </a:rPr>
              <a:t>Content script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88F79-0855-4A81-81FA-B85F559D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57550"/>
            <a:ext cx="1943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98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BC0DE"/>
                </a:solidFill>
              </a:defRPr>
            </a:pPr>
            <a:r>
              <a:rPr sz="1200" b="0">
                <a:solidFill>
                  <a:srgbClr val="ABC0DE"/>
                </a:solidFill>
              </a:rPr>
              <a:t>Sleduje focus formulárov, zobrazuje popover a mapuje polia heuristikou.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33A4C4-73AF-465D-91A1-A389DD32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2286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934069-E039-4ACA-BF9C-DB98A451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7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607DF7-A164-4708-9ACF-732DF237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956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DF5FF"/>
                </a:solidFill>
              </a:defRPr>
            </a:pPr>
            <a:r>
              <a:rPr sz="1500" b="1">
                <a:solidFill>
                  <a:srgbClr val="EDF5FF"/>
                </a:solidFill>
              </a:rPr>
              <a:t>Options page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F61EAC-F449-4A86-9580-C2F1DA47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57550"/>
            <a:ext cx="1943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BC0DE"/>
                </a:solidFill>
              </a:defRPr>
            </a:pPr>
            <a:r>
              <a:rPr sz="1200" b="0">
                <a:solidFill>
                  <a:srgbClr val="ABC0DE"/>
                </a:solidFill>
              </a:rPr>
              <a:t>Editor profilov, sekcie údajov, dark UI a správa vaultu.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C29625-E1B9-405F-8109-63119875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150"/>
            <a:ext cx="20764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747B26-4C9C-4B74-8E2A-ECBB3523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1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63D218-28B0-48DE-B8F5-EE04BC15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9560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DF5FF"/>
                </a:solidFill>
              </a:defRPr>
            </a:pPr>
            <a:r>
              <a:rPr sz="1500" b="1">
                <a:solidFill>
                  <a:srgbClr val="EDF5FF"/>
                </a:solidFill>
              </a:rPr>
              <a:t>Background + storage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505154-A1F3-43F0-9A1C-9D755D9E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57550"/>
            <a:ext cx="173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BC0DE"/>
                </a:solidFill>
              </a:defRPr>
            </a:pPr>
            <a:r>
              <a:rPr sz="1200" b="0">
                <a:solidFill>
                  <a:srgbClr val="ABC0DE"/>
                </a:solidFill>
              </a:rPr>
              <a:t>Šifrovaný vault, messaging a práca s chrome.storage.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A95FB3-DF3B-4D2F-B5BC-43796747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3850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6C0FF"/>
                </a:solidFill>
              </a:defRPr>
            </a:pPr>
            <a:r>
              <a:rPr sz="2100" b="1">
                <a:solidFill>
                  <a:srgbClr val="86C0FF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BA300D-3EC1-42F1-BA7F-EF1311C8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3850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6C0FF"/>
                </a:solidFill>
              </a:defRPr>
            </a:pPr>
            <a:r>
              <a:rPr sz="2100" b="1">
                <a:solidFill>
                  <a:srgbClr val="86C0FF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97DCE4-B361-4F30-ACB7-53F5CC1D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3850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6C0FF"/>
                </a:solidFill>
              </a:defRPr>
            </a:pPr>
            <a:r>
              <a:rPr sz="2100" b="1">
                <a:solidFill>
                  <a:srgbClr val="86C0FF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DDE56F-142D-4C7D-BD22-2C4F9476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885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225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DF5FF"/>
                </a:solidFill>
              </a:defRPr>
            </a:pPr>
            <a:r>
              <a:rPr sz="1125" b="1">
                <a:solidFill>
                  <a:srgbClr val="EDF5FF"/>
                </a:solidFill>
              </a:rPr>
              <a:t>HTML + CSS + JavaScript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4B3FE4-06CC-44A1-A255-9F39C4A9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53000"/>
            <a:ext cx="1885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225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DF5FF"/>
                </a:solidFill>
              </a:defRPr>
            </a:pPr>
            <a:r>
              <a:rPr sz="1125" b="1">
                <a:solidFill>
                  <a:srgbClr val="EDF5FF"/>
                </a:solidFill>
              </a:rPr>
              <a:t>chrome.storage.sync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5B2D54-AFB7-46DA-A386-6CBCE945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53000"/>
            <a:ext cx="1885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225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DF5FF"/>
                </a:solidFill>
              </a:defRPr>
            </a:pPr>
            <a:r>
              <a:rPr sz="1125" b="1">
                <a:solidFill>
                  <a:srgbClr val="EDF5FF"/>
                </a:solidFill>
              </a:rPr>
              <a:t>React/Vue compatible events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139D57-C7E2-4788-96C3-94FEB5CF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53000"/>
            <a:ext cx="1885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225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DF5FF"/>
                </a:solidFill>
              </a:defRPr>
            </a:pPr>
            <a:r>
              <a:rPr sz="1125" b="1">
                <a:solidFill>
                  <a:srgbClr val="EDF5FF"/>
                </a:solidFill>
              </a:rPr>
              <a:t>heuristické mapovanie polí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2B6CE9-9606-4FB3-A0D3-68167ACB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953000"/>
            <a:ext cx="1885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225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DF5FF"/>
                </a:solidFill>
              </a:defRPr>
            </a:pPr>
            <a:r>
              <a:rPr sz="1125" b="1">
                <a:solidFill>
                  <a:srgbClr val="EDF5FF"/>
                </a:solidFill>
              </a:rPr>
              <a:t>AES-GCM vault</a:t>
            </a:r>
          </a:p>
        </p:txBody>
      </p:sp>
    </p:spTree>
    <p:extLst>
      <p:ext uri="{BB962C8B-B14F-4D97-AF65-F5344CB8AC3E}">
        <p14:creationId xmlns:p14="http://schemas.microsoft.com/office/powerpoint/2010/main" val="18704770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3C5BDA-5519-48B1-B051-909EF16886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CEFAB-E63C-4265-BEF1-E9349316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A8FF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C757E-3C39-49D7-B4FD-F016BCAB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E0B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A5830-E9A6-49C9-8367-33DB7DF9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62500"/>
            <a:ext cx="3238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A8FF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FAAE8-7BEC-4D93-B6A4-6C27FCC4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FE0BE"/>
                </a:solidFill>
              </a:defRPr>
            </a:pPr>
            <a:r>
              <a:rPr sz="975" b="1">
                <a:solidFill>
                  <a:srgbClr val="7FE0BE"/>
                </a:solidFill>
              </a:rPr>
              <a:t>SPÄTNÁ VÄZBA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8F741-7309-494C-9E3F-1194B04A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5FF"/>
                </a:solidFill>
              </a:defRPr>
            </a:pPr>
            <a:r>
              <a:rPr sz="2550" b="1">
                <a:solidFill>
                  <a:srgbClr val="EDF5FF"/>
                </a:solidFill>
              </a:rPr>
              <a:t>Zdroj, feedback, odpoveď, ponaučenie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D95C1-6CAA-47BA-909C-C27E31DD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BC0DE"/>
                </a:solidFill>
              </a:defRPr>
            </a:pPr>
            <a:r>
              <a:rPr sz="1350" b="0">
                <a:solidFill>
                  <a:srgbClr val="ABC0DE"/>
                </a:solidFill>
              </a:rPr>
              <a:t>Feedback neslúžil len na potvrdenie nápadu, ale aj na zúženie rozsahu a lepšie prioritizovanie.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72AD5-964D-4F8A-845E-3CED91C8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419350" cy="2990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716EF-ED6D-408C-B725-63F1BF40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ACFDF-1D32-4AA8-B0BB-EF3BB1C0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DF5FF"/>
                </a:solidFill>
              </a:defRPr>
            </a:pPr>
            <a:r>
              <a:rPr sz="1650" b="1">
                <a:solidFill>
                  <a:srgbClr val="EDF5FF"/>
                </a:solidFill>
              </a:rPr>
              <a:t>Zdroj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6E523-BC8F-4C56-A7EB-3C0AA07D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20383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BC0DE"/>
                </a:solidFill>
              </a:defRPr>
            </a:pPr>
            <a:r>
              <a:rPr sz="1275" b="0">
                <a:solidFill>
                  <a:srgbClr val="ABC0DE"/>
                </a:solidFill>
              </a:rPr>
              <a:t>Dotazník medzi používateľmi + porovnanie riešení ako AutoFill Forms, Bitwarden a LastPass.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EDADF-CB73-4A12-8E6A-FDF90441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57450"/>
            <a:ext cx="2419350" cy="2990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1CB6E-5371-4D87-8E55-D17A558C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5745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E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D96E5D-5A7B-4DD0-AC76-B76C9470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241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DF5FF"/>
                </a:solidFill>
              </a:defRPr>
            </a:pPr>
            <a:r>
              <a:rPr sz="1650" b="1">
                <a:solidFill>
                  <a:srgbClr val="EDF5FF"/>
                </a:solidFill>
              </a:rPr>
              <a:t>Feedback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D4A0A5-FAA4-4B77-AC38-4E2A4DF1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00400"/>
            <a:ext cx="20383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BC0DE"/>
                </a:solidFill>
              </a:defRPr>
            </a:pPr>
            <a:r>
              <a:rPr sz="1275" b="0">
                <a:solidFill>
                  <a:srgbClr val="ABC0DE"/>
                </a:solidFill>
              </a:rPr>
              <a:t>Ľudia chceli hlavne rýchlosť, viac profilov, firemné údaje a minimum klikov. Zaznel aj nápad na templaty adries.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E701ED-C029-44EB-B148-BA084680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57450"/>
            <a:ext cx="2419350" cy="2990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FEBA1C-7599-4D42-9ED7-1FB19351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5745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7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30519F-6120-4FB1-A552-A4A1475F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241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DF5FF"/>
                </a:solidFill>
              </a:defRPr>
            </a:pPr>
            <a:r>
              <a:rPr sz="1650" b="1">
                <a:solidFill>
                  <a:srgbClr val="EDF5FF"/>
                </a:solidFill>
              </a:rPr>
              <a:t>Odpoveď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9D23D6-1CE7-43BD-9505-57B3BD00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20383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BC0DE"/>
                </a:solidFill>
              </a:defRPr>
            </a:pPr>
            <a:r>
              <a:rPr sz="1275" b="0">
                <a:solidFill>
                  <a:srgbClr val="ABC0DE"/>
                </a:solidFill>
              </a:rPr>
              <a:t>Produkt som rozšíril o širší dátový model, celý formulár na jeden klik a bezpečnostný hardening citlivých údajov.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39903D-F03F-42E2-91A2-D249AD62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57450"/>
            <a:ext cx="2419350" cy="2990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82A6A6-E689-4CD4-B99D-63B16FDF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5745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34ED9F-D6D3-4155-B61F-597B21A8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241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DF5FF"/>
                </a:solidFill>
              </a:defRPr>
            </a:pPr>
            <a:r>
              <a:rPr sz="1650" b="1">
                <a:solidFill>
                  <a:srgbClr val="EDF5FF"/>
                </a:solidFill>
              </a:rPr>
              <a:t>Ponaučenie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92D92E-320B-4E80-8914-72D5F4AC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00400"/>
            <a:ext cx="20383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BC0DE"/>
                </a:solidFill>
              </a:defRPr>
            </a:pPr>
            <a:r>
              <a:rPr sz="1275" b="0">
                <a:solidFill>
                  <a:srgbClr val="ABC0DE"/>
                </a:solidFill>
              </a:rPr>
              <a:t>Najväčšiu hodnotu netvorí množstvo funkcií, ale jasný flow: fokus na pole, výber profilu, hotovo.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6BB7F1-5BB5-407F-9573-2FA0515B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39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BC0DE"/>
                </a:solidFill>
              </a:defRPr>
            </a:pPr>
            <a:r>
              <a:rPr sz="1275" b="0">
                <a:solidFill>
                  <a:srgbClr val="ABC0DE"/>
                </a:solidFill>
              </a:rPr>
              <a:t>Benchmark + survey = potvrdenie, že jednoduché autofill riešenie má zmysel, ak je rýchle a dôveryhodné.</a:t>
            </a:r>
          </a:p>
        </p:txBody>
      </p:sp>
    </p:spTree>
    <p:extLst>
      <p:ext uri="{BB962C8B-B14F-4D97-AF65-F5344CB8AC3E}">
        <p14:creationId xmlns:p14="http://schemas.microsoft.com/office/powerpoint/2010/main" val="19317250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3C5BDA-5519-48B1-B051-909EF16886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8402C-DAAF-4C87-AC55-4F7742B5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A8FF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C9E53-9808-4354-A780-BFCF1B28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047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E0BE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3CE5F-59CD-4407-9C12-EA186484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62500"/>
            <a:ext cx="3238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A8FF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FDCFD-C839-4402-B239-D471D7B0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oundRect">
            <a:avLst>
              <a:gd name="adj" fmla="val 1307"/>
            </a:avLst>
          </a:prstGeom>
          <a:solidFill xmlns:a="http://schemas.openxmlformats.org/drawingml/2006/main">
            <a:srgbClr val="0F1B2D">
              <a:alpha val="92941"/>
            </a:srgbClr>
          </a:solidFill>
          <a:ln xmlns:a="http://schemas.openxmlformats.org/drawingml/2006/main" w="13335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FF5F6-706B-4EE7-93D5-8E0C3338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23950"/>
            <a:ext cx="438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DF5FF"/>
                </a:solidFill>
              </a:defRPr>
            </a:pPr>
            <a:r>
              <a:rPr sz="3150" b="1">
                <a:solidFill>
                  <a:srgbClr val="EDF5FF"/>
                </a:solidFill>
              </a:rPr>
              <a:t>Vyskúšaj FORMeGO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D55A1-FFC5-4188-A056-C247330B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90700"/>
            <a:ext cx="4648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BC0DE"/>
                </a:solidFill>
              </a:defRPr>
            </a:pPr>
            <a:r>
              <a:rPr sz="1575" b="0">
                <a:solidFill>
                  <a:srgbClr val="ABC0DE"/>
                </a:solidFill>
              </a:rPr>
              <a:t>Naskenuj QR kód a otvor GitHub Pages prezentáciu alebo repozitár so zdrojovým kódom.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38B1A-7E97-4368-99AE-058AB1CC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04900"/>
            <a:ext cx="40005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98091-8374-4760-A62F-E8F240BC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049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E12C30-F656-4664-89DE-EE469D5E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0"/>
            <a:ext cx="30861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51422509a48f6"/>
          <a:stretch xmlns:a="http://schemas.openxmlformats.org/drawingml/2006/main"/>
        </p:blipFill>
        <p:spPr>
          <a:xfrm xmlns:a="http://schemas.openxmlformats.org/drawingml/2006/main">
            <a:off x="1638300" y="1752600"/>
            <a:ext cx="2628900" cy="26289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948E3-09B1-47AB-B972-4D02B46A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FE0BE"/>
                </a:solidFill>
              </a:defRPr>
            </a:pPr>
            <a:r>
              <a:rPr sz="1350" b="1">
                <a:solidFill>
                  <a:srgbClr val="7FE0BE"/>
                </a:solidFill>
              </a:rPr>
              <a:t>GitHub Pages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C3141-3BF6-490D-86AB-C522C4D3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95600"/>
            <a:ext cx="4857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C93539-F876-4804-8FA5-35DAB8C4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956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E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398A34-F4CE-4365-94A7-A8FBEC6F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8135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74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DF5FF"/>
                </a:solidFill>
              </a:defRPr>
            </a:pPr>
            <a:r>
              <a:rPr sz="1800" b="1">
                <a:solidFill>
                  <a:srgbClr val="EDF5FF"/>
                </a:solidFill>
              </a:rPr>
              <a:t>simoncalik.github.io/FORMeGO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0E8EFF-529F-4880-AB2B-298E7FC0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62400"/>
            <a:ext cx="4857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2038">
              <a:alpha val="90980"/>
            </a:srgbClr>
          </a:solidFill>
          <a:ln xmlns:a="http://schemas.openxmlformats.org/drawingml/2006/main" w="11430">
            <a:solidFill>
              <a:srgbClr val="84ABE7">
                <a:alpha val="18039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78C84E-BA3E-4156-BF60-E3503BAA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624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FC1398-B0EE-4186-9A90-DBEA321A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4815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74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DF5FF"/>
                </a:solidFill>
              </a:defRPr>
            </a:pPr>
            <a:r>
              <a:rPr sz="1800" b="1">
                <a:solidFill>
                  <a:srgbClr val="EDF5FF"/>
                </a:solidFill>
              </a:rPr>
              <a:t>github.com/SimonCalik/FORMeGO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921818-8898-4462-BD46-60C5AC4E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62550"/>
            <a:ext cx="13906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3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DF5FF"/>
                </a:solidFill>
              </a:defRPr>
            </a:pPr>
            <a:r>
              <a:rPr sz="1125" b="1">
                <a:solidFill>
                  <a:srgbClr val="EDF5FF"/>
                </a:solidFill>
              </a:rPr>
              <a:t>GitHub Pages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62EB42-47D7-4543-B085-EBD68AA1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62550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538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DF5FF"/>
                </a:solidFill>
              </a:defRPr>
            </a:pPr>
            <a:r>
              <a:rPr sz="1125" b="1">
                <a:solidFill>
                  <a:srgbClr val="EDF5FF"/>
                </a:solidFill>
              </a:rPr>
              <a:t>ZIP download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5A47BA-6FE4-4390-9DD6-30877E7F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62550"/>
            <a:ext cx="1581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B32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DF5FF"/>
                </a:solidFill>
              </a:defRPr>
            </a:pPr>
            <a:r>
              <a:rPr sz="1125" b="1">
                <a:solidFill>
                  <a:srgbClr val="EDF5FF"/>
                </a:solidFill>
              </a:rPr>
              <a:t>Load unpacked</a:t>
            </a:r>
          </a:p>
        </p:txBody>
      </p:sp>
    </p:spTree>
    <p:extLst>
      <p:ext uri="{BB962C8B-B14F-4D97-AF65-F5344CB8AC3E}">
        <p14:creationId xmlns:p14="http://schemas.microsoft.com/office/powerpoint/2010/main" val="13261805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2026-04-25T11:54:28.0210000Z</dcterms:created>
  <dcterms:modified xsi:type="dcterms:W3CDTF">2026-04-25T11:54:28.0210000Z</dcterms:modified>
</coreProperties>
</file>